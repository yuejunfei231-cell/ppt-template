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4D">
                  <a:alpha val="100000"/>
                </a:srgbClr>
              </a:gs>
              <a:gs pos="100000">
                <a:srgbClr val="#10497E">
                  <a:alpha val="100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54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28000" y="-2413000"/>
            <a:ext cx="7112000" cy="7112000"/>
          </a:xfrm>
          <a:prstGeom prst="ellipse">
            <a:avLst/>
          </a:prstGeom>
          <a:noFill/>
          <a:ln w="12700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6200" y="-1574800"/>
            <a:ext cx="5435600" cy="5435600"/>
          </a:xfrm>
          <a:prstGeom prst="ellipse">
            <a:avLst/>
          </a:prstGeom>
          <a:noFill/>
          <a:ln w="15240">
            <a:solidFill>
              <a:srgbClr val="12A08C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4400" y="-736600"/>
            <a:ext cx="3759200" cy="3759200"/>
          </a:xfrm>
          <a:prstGeom prst="ellipse">
            <a:avLst/>
          </a:prstGeom>
          <a:noFill/>
          <a:ln w="10160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9652000" y="3124200"/>
            <a:ext cx="990600" cy="685800"/>
          </a:xfrm>
          <a:custGeom>
            <a:avLst/>
            <a:gdLst/>
            <a:ahLst/>
            <a:cxnLst/>
            <a:rect l="l" t="t" r="r" b="b"/>
            <a:pathLst>
              <a:path w="990600" h="685800">
                <a:moveTo>
                  <a:pt x="0" y="685800"/>
                </a:moveTo>
                <a:lnTo>
                  <a:pt x="990600" y="0"/>
                </a:lnTo>
              </a:path>
            </a:pathLst>
          </a:custGeom>
          <a:noFill/>
          <a:ln w="13970" cap="flat">
            <a:solidFill>
              <a:srgbClr val="12A08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0642600" y="3124200"/>
            <a:ext cx="431800" cy="1193800"/>
          </a:xfrm>
          <a:custGeom>
            <a:avLst/>
            <a:gdLst/>
            <a:ahLst/>
            <a:cxnLst/>
            <a:rect l="l" t="t" r="r" b="b"/>
            <a:pathLst>
              <a:path w="431800" h="1193800">
                <a:moveTo>
                  <a:pt x="0" y="0"/>
                </a:moveTo>
                <a:lnTo>
                  <a:pt x="431800" y="1193800"/>
                </a:lnTo>
              </a:path>
            </a:pathLst>
          </a:custGeom>
          <a:noFill/>
          <a:ln w="13970" cap="flat">
            <a:solidFill>
              <a:srgbClr val="12A08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0007600" y="4318000"/>
            <a:ext cx="1066800" cy="584200"/>
          </a:xfrm>
          <a:custGeom>
            <a:avLst/>
            <a:gdLst/>
            <a:ahLst/>
            <a:cxnLst/>
            <a:rect l="l" t="t" r="r" b="b"/>
            <a:pathLst>
              <a:path w="1066800" h="584200">
                <a:moveTo>
                  <a:pt x="1066800" y="0"/>
                </a:moveTo>
                <a:lnTo>
                  <a:pt x="0" y="584200"/>
                </a:lnTo>
              </a:path>
            </a:pathLst>
          </a:custGeom>
          <a:noFill/>
          <a:ln w="13970" cap="flat">
            <a:solidFill>
              <a:srgbClr val="12A08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8890000" y="4470400"/>
            <a:ext cx="1117600" cy="431800"/>
          </a:xfrm>
          <a:custGeom>
            <a:avLst/>
            <a:gdLst/>
            <a:ahLst/>
            <a:cxnLst/>
            <a:rect l="l" t="t" r="r" b="b"/>
            <a:pathLst>
              <a:path w="1117600" h="431800">
                <a:moveTo>
                  <a:pt x="1117600" y="431800"/>
                </a:moveTo>
                <a:lnTo>
                  <a:pt x="0" y="0"/>
                </a:lnTo>
              </a:path>
            </a:pathLst>
          </a:custGeom>
          <a:noFill/>
          <a:ln w="13970" cap="flat">
            <a:solidFill>
              <a:srgbClr val="12A08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8890000" y="3810000"/>
            <a:ext cx="762000" cy="660400"/>
          </a:xfrm>
          <a:custGeom>
            <a:avLst/>
            <a:gdLst/>
            <a:ahLst/>
            <a:cxnLst/>
            <a:rect l="l" t="t" r="r" b="b"/>
            <a:pathLst>
              <a:path w="762000" h="660400">
                <a:moveTo>
                  <a:pt x="0" y="660400"/>
                </a:moveTo>
                <a:lnTo>
                  <a:pt x="762000" y="0"/>
                </a:lnTo>
              </a:path>
            </a:pathLst>
          </a:custGeom>
          <a:noFill/>
          <a:ln w="13970" cap="flat">
            <a:solidFill>
              <a:srgbClr val="12A08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25000" y="3683000"/>
            <a:ext cx="254000" cy="254000"/>
          </a:xfrm>
          <a:prstGeom prst="ellipse">
            <a:avLst/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53700" y="3035300"/>
            <a:ext cx="177800" cy="177800"/>
          </a:xfrm>
          <a:prstGeom prst="ellipse">
            <a:avLst/>
          </a:prstGeom>
          <a:solidFill>
            <a:srgbClr val="12A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85500" y="4229100"/>
            <a:ext cx="177800" cy="177800"/>
          </a:xfrm>
          <a:prstGeom prst="ellipse">
            <a:avLst/>
          </a:prstGeom>
          <a:solidFill>
            <a:srgbClr val="12A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18700" y="4813300"/>
            <a:ext cx="177800" cy="177800"/>
          </a:xfrm>
          <a:prstGeom prst="ellipse">
            <a:avLst/>
          </a:prstGeom>
          <a:solidFill>
            <a:srgbClr val="12A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01100" y="4381500"/>
            <a:ext cx="177800" cy="177800"/>
          </a:xfrm>
          <a:prstGeom prst="ellipse">
            <a:avLst/>
          </a:prstGeom>
          <a:solidFill>
            <a:srgbClr val="12A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80600" y="4229100"/>
            <a:ext cx="254000" cy="254000"/>
          </a:xfrm>
          <a:prstGeom prst="ellipse">
            <a:avLst/>
          </a:prstGeom>
          <a:solidFill>
            <a:srgbClr val="0A2A4D"/>
          </a:solidFill>
          <a:ln w="15240">
            <a:solidFill>
              <a:srgbClr val="12A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80600" y="42291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2A08C"/>
                </a:solidFill>
                <a:latin typeface="Arial"/>
                <a:ea typeface="Microsoft YaHei"/>
                <a:cs typeface="Arial"/>
              </a:rPr>
              <a:t>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gradFill rotWithShape="1">
            <a:gsLst>
              <a:gs pos="0">
                <a:srgbClr val="12A08C">
                  <a:alpha val="100000"/>
                </a:srgbClr>
              </a:gs>
              <a:gs pos="100000">
                <a:srgbClr val="0B7A6B">
                  <a:alpha val="100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" y="685800"/>
            <a:ext cx="635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FD8CE"/>
                </a:solidFill>
                <a:latin typeface="Arial"/>
                <a:ea typeface="Microsoft YaHei"/>
                <a:cs typeface="Arial"/>
              </a:rPr>
              <a:t>研究生组会汇报 · RESEARCH SEMINAR</a:t>
            </a:r>
          </a:p>
        </p:txBody>
      </p:sp>
      <p:sp>
        <p:nvSpPr>
          <p:cNvPr id="21" name="Freeform 20"/>
          <p:cNvSpPr/>
          <p:nvPr/>
        </p:nvSpPr>
        <p:spPr>
          <a:xfrm>
            <a:off x="812800" y="1016000"/>
            <a:ext cx="1320800" cy="0"/>
          </a:xfrm>
          <a:custGeom>
            <a:avLst/>
            <a:gdLst/>
            <a:ahLst/>
            <a:cxnLst/>
            <a:rect l="l" t="t" r="r" b="b"/>
            <a:pathLst>
              <a:path w="1320800" h="0">
                <a:moveTo>
                  <a:pt x="0" y="0"/>
                </a:moveTo>
                <a:lnTo>
                  <a:pt x="1320800" y="0"/>
                </a:lnTo>
              </a:path>
            </a:pathLst>
          </a:custGeom>
          <a:noFill/>
          <a:ln w="25400" cap="flat">
            <a:solidFill>
              <a:srgbClr val="12A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1905000"/>
            <a:ext cx="88900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35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高效好氧降氨菌的筛选、机制解析</a:t>
            </a:r>
          </a:p>
          <a:p>
            <a:pPr algn="l">
              <a:lnSpc>
                <a:spcPct val="128000"/>
              </a:lnSpc>
            </a:pPr>
            <a:r>
              <a:rPr sz="35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及其在堆肥减排保氮中的应用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8200" y="3403600"/>
            <a:ext cx="1168400" cy="57150"/>
          </a:xfrm>
          <a:prstGeom prst="rect">
            <a:avLst/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800" y="3657600"/>
            <a:ext cx="81280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B9CBDD"/>
                </a:solidFill>
                <a:latin typeface="Arial"/>
                <a:ea typeface="Microsoft YaHei"/>
                <a:cs typeface="Arial"/>
              </a:rPr>
              <a:t>Screening and Mechanism of High-efficiency Aerobic Ammonia-removing Bacteria and Their Application in Composting for Emission Reduction and Nitrogen Retention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800" y="4724400"/>
            <a:ext cx="5740400" cy="1371600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 w="11430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2800" y="4724400"/>
            <a:ext cx="57150" cy="1371600"/>
          </a:xfrm>
          <a:prstGeom prst="roundRect">
            <a:avLst>
              <a:gd name="adj" fmla="val 48888"/>
            </a:avLst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7600" y="4927600"/>
            <a:ext cx="9652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D8CE"/>
                </a:solidFill>
                <a:latin typeface="Arial"/>
                <a:ea typeface="Microsoft YaHei"/>
                <a:cs typeface="Arial"/>
              </a:rPr>
              <a:t>汇报人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3600" y="4927600"/>
            <a:ext cx="4191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[你的名字]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7600" y="5257800"/>
            <a:ext cx="9652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D8CE"/>
                </a:solidFill>
                <a:latin typeface="Arial"/>
                <a:ea typeface="Microsoft YaHei"/>
                <a:cs typeface="Arial"/>
              </a:rPr>
              <a:t>指导教师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33600" y="5257800"/>
            <a:ext cx="4191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[导师名字]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600" y="5588000"/>
            <a:ext cx="9652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D8CE"/>
                </a:solidFill>
                <a:latin typeface="Arial"/>
                <a:ea typeface="Microsoft YaHei"/>
                <a:cs typeface="Arial"/>
              </a:rPr>
              <a:t>汇报日期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3600" y="5588000"/>
            <a:ext cx="4191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202X年X月X日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23400" y="5969000"/>
            <a:ext cx="2034945" cy="311150"/>
          </a:xfrm>
          <a:prstGeom prst="roundRect">
            <a:avLst>
              <a:gd name="adj" fmla="val 50000"/>
            </a:avLst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3400" y="5969000"/>
            <a:ext cx="2034945" cy="311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HN-AD · 异养硝化-好氧反硝化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2A08C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08000"/>
            <a:ext cx="9906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汇报框架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990600"/>
            <a:ext cx="533400" cy="44450"/>
          </a:xfrm>
          <a:prstGeom prst="rect">
            <a:avLst/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800" y="990600"/>
            <a:ext cx="254000" cy="44450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9600" y="119380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 h="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2700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9600" y="645160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 h="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278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高效好氧降氨菌的筛选、机制解析及其在堆肥减排保氮中的应用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6527800"/>
            <a:ext cx="2184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02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1905000"/>
            <a:ext cx="5232400" cy="3810000"/>
          </a:xfrm>
          <a:prstGeom prst="roundRect">
            <a:avLst>
              <a:gd name="adj" fmla="val 4666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1905000"/>
            <a:ext cx="5232400" cy="76200"/>
          </a:xfrm>
          <a:prstGeom prst="roundRect">
            <a:avLst>
              <a:gd name="adj" fmla="val 50000"/>
            </a:avLst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" y="2286000"/>
            <a:ext cx="1524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3" name="Freeform 12"/>
          <p:cNvSpPr/>
          <p:nvPr/>
        </p:nvSpPr>
        <p:spPr>
          <a:xfrm>
            <a:off x="1981200" y="2362200"/>
            <a:ext cx="0" cy="609600"/>
          </a:xfrm>
          <a:custGeom>
            <a:avLst/>
            <a:gdLst/>
            <a:ahLst/>
            <a:cxnLst/>
            <a:rect l="l" t="t" r="r" b="b"/>
            <a:pathLst>
              <a:path w="0"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noFill/>
          <a:ln w="12700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09800" y="2362200"/>
            <a:ext cx="3327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研究背景与立题依据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9800" y="2717800"/>
            <a:ext cx="3327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Research Background</a:t>
            </a:r>
          </a:p>
        </p:txBody>
      </p:sp>
      <p:sp>
        <p:nvSpPr>
          <p:cNvPr id="16" name="Oval 15"/>
          <p:cNvSpPr/>
          <p:nvPr/>
        </p:nvSpPr>
        <p:spPr>
          <a:xfrm>
            <a:off x="1016000" y="3403600"/>
            <a:ext cx="88900" cy="88900"/>
          </a:xfrm>
          <a:prstGeom prst="ellipse">
            <a:avLst/>
          </a:prstGeom>
          <a:solidFill>
            <a:srgbClr val="0F3D6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4600" y="3302000"/>
            <a:ext cx="35814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行业背景 · 堆肥“减污与保氮”痛点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2200" y="3302000"/>
            <a:ext cx="558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P03</a:t>
            </a:r>
          </a:p>
        </p:txBody>
      </p:sp>
      <p:sp>
        <p:nvSpPr>
          <p:cNvPr id="19" name="Oval 18"/>
          <p:cNvSpPr/>
          <p:nvPr/>
        </p:nvSpPr>
        <p:spPr>
          <a:xfrm>
            <a:off x="1016000" y="3835400"/>
            <a:ext cx="88900" cy="88900"/>
          </a:xfrm>
          <a:prstGeom prst="ellipse">
            <a:avLst/>
          </a:prstGeom>
          <a:solidFill>
            <a:srgbClr val="0F3D6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44600" y="3733800"/>
            <a:ext cx="35814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科学瓶颈 · 脱氮领域的“氧气悖论”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2200" y="3733800"/>
            <a:ext cx="558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P04</a:t>
            </a:r>
          </a:p>
        </p:txBody>
      </p:sp>
      <p:sp>
        <p:nvSpPr>
          <p:cNvPr id="22" name="Oval 21"/>
          <p:cNvSpPr/>
          <p:nvPr/>
        </p:nvSpPr>
        <p:spPr>
          <a:xfrm>
            <a:off x="1016000" y="4267200"/>
            <a:ext cx="88900" cy="88900"/>
          </a:xfrm>
          <a:prstGeom prst="ellipse">
            <a:avLst/>
          </a:prstGeom>
          <a:solidFill>
            <a:srgbClr val="0F3D6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4600" y="4165600"/>
            <a:ext cx="35814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解决方案 · HN-AD 菌（核心主角）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2200" y="4165600"/>
            <a:ext cx="558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P05</a:t>
            </a:r>
          </a:p>
        </p:txBody>
      </p:sp>
      <p:sp>
        <p:nvSpPr>
          <p:cNvPr id="25" name="Freeform 24"/>
          <p:cNvSpPr/>
          <p:nvPr/>
        </p:nvSpPr>
        <p:spPr>
          <a:xfrm>
            <a:off x="990600" y="5207000"/>
            <a:ext cx="4470400" cy="0"/>
          </a:xfrm>
          <a:custGeom>
            <a:avLst/>
            <a:gdLst/>
            <a:ahLst/>
            <a:cxnLst/>
            <a:rect l="l" t="t" r="r" b="b"/>
            <a:pathLst>
              <a:path w="4470400" h="0">
                <a:moveTo>
                  <a:pt x="0" y="0"/>
                </a:moveTo>
                <a:lnTo>
                  <a:pt x="44704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600" y="5308600"/>
            <a:ext cx="4470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3 页 · 立论：为什么必须找好氧降氨菌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0000" y="1905000"/>
            <a:ext cx="5232400" cy="3810000"/>
          </a:xfrm>
          <a:prstGeom prst="roundRect">
            <a:avLst>
              <a:gd name="adj" fmla="val 4666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50000" y="1905000"/>
            <a:ext cx="5232400" cy="76200"/>
          </a:xfrm>
          <a:prstGeom prst="roundRect">
            <a:avLst>
              <a:gd name="adj" fmla="val 50000"/>
            </a:avLst>
          </a:prstGeom>
          <a:solidFill>
            <a:srgbClr val="0B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31000" y="2286000"/>
            <a:ext cx="1524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30" name="Freeform 29"/>
          <p:cNvSpPr/>
          <p:nvPr/>
        </p:nvSpPr>
        <p:spPr>
          <a:xfrm>
            <a:off x="7721600" y="2362200"/>
            <a:ext cx="0" cy="609600"/>
          </a:xfrm>
          <a:custGeom>
            <a:avLst/>
            <a:gdLst/>
            <a:ahLst/>
            <a:cxnLst/>
            <a:rect l="l" t="t" r="r" b="b"/>
            <a:pathLst>
              <a:path w="0"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noFill/>
          <a:ln w="12700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0200" y="2362200"/>
            <a:ext cx="3327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当前试验流程与进展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0200" y="2717800"/>
            <a:ext cx="3327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Current Experimental Workflow</a:t>
            </a:r>
          </a:p>
        </p:txBody>
      </p:sp>
      <p:sp>
        <p:nvSpPr>
          <p:cNvPr id="33" name="Oval 32"/>
          <p:cNvSpPr/>
          <p:nvPr/>
        </p:nvSpPr>
        <p:spPr>
          <a:xfrm>
            <a:off x="6756400" y="3403600"/>
            <a:ext cx="88900" cy="88900"/>
          </a:xfrm>
          <a:prstGeom prst="ellipse">
            <a:avLst/>
          </a:prstGeom>
          <a:solidFill>
            <a:srgbClr val="0B7A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85000" y="3302000"/>
            <a:ext cx="35814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整体策略 · 漏斗式降维筛选法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42600" y="3302000"/>
            <a:ext cx="558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P06</a:t>
            </a:r>
          </a:p>
        </p:txBody>
      </p:sp>
      <p:sp>
        <p:nvSpPr>
          <p:cNvPr id="36" name="Oval 35"/>
          <p:cNvSpPr/>
          <p:nvPr/>
        </p:nvSpPr>
        <p:spPr>
          <a:xfrm>
            <a:off x="6756400" y="3835400"/>
            <a:ext cx="88900" cy="88900"/>
          </a:xfrm>
          <a:prstGeom prst="ellipse">
            <a:avLst/>
          </a:prstGeom>
          <a:solidFill>
            <a:srgbClr val="0B7A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85000" y="3733800"/>
            <a:ext cx="35814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核心实验 · 72h 氮素转化动力学评估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42600" y="3733800"/>
            <a:ext cx="558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P07</a:t>
            </a:r>
          </a:p>
        </p:txBody>
      </p:sp>
      <p:sp>
        <p:nvSpPr>
          <p:cNvPr id="39" name="Oval 38"/>
          <p:cNvSpPr/>
          <p:nvPr/>
        </p:nvSpPr>
        <p:spPr>
          <a:xfrm>
            <a:off x="6756400" y="4267200"/>
            <a:ext cx="88900" cy="88900"/>
          </a:xfrm>
          <a:prstGeom prst="ellipse">
            <a:avLst/>
          </a:prstGeom>
          <a:solidFill>
            <a:srgbClr val="0B7A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85000" y="4165600"/>
            <a:ext cx="35814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指标体系 · 取样频次与四大检测指标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42600" y="4165600"/>
            <a:ext cx="558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P08</a:t>
            </a:r>
          </a:p>
        </p:txBody>
      </p:sp>
      <p:sp>
        <p:nvSpPr>
          <p:cNvPr id="42" name="Oval 41"/>
          <p:cNvSpPr/>
          <p:nvPr/>
        </p:nvSpPr>
        <p:spPr>
          <a:xfrm>
            <a:off x="6756400" y="4699000"/>
            <a:ext cx="88900" cy="88900"/>
          </a:xfrm>
          <a:prstGeom prst="ellipse">
            <a:avLst/>
          </a:prstGeom>
          <a:solidFill>
            <a:srgbClr val="0B7A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85000" y="4597400"/>
            <a:ext cx="35814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预期与计划 · 成果输出与下一步工作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42600" y="4597400"/>
            <a:ext cx="558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P09</a:t>
            </a:r>
          </a:p>
        </p:txBody>
      </p:sp>
      <p:sp>
        <p:nvSpPr>
          <p:cNvPr id="45" name="Freeform 44"/>
          <p:cNvSpPr/>
          <p:nvPr/>
        </p:nvSpPr>
        <p:spPr>
          <a:xfrm>
            <a:off x="6731000" y="5207000"/>
            <a:ext cx="4470400" cy="0"/>
          </a:xfrm>
          <a:custGeom>
            <a:avLst/>
            <a:gdLst/>
            <a:ahLst/>
            <a:cxnLst/>
            <a:rect l="l" t="t" r="r" b="b"/>
            <a:pathLst>
              <a:path w="4470400" h="0">
                <a:moveTo>
                  <a:pt x="0" y="0"/>
                </a:moveTo>
                <a:lnTo>
                  <a:pt x="44704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1000" y="5308600"/>
            <a:ext cx="4470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4 页 · 实证：筛菌 → 动力学 → 指标 → 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2A08C"/>
                </a:solidFill>
                <a:latin typeface="Arial"/>
                <a:ea typeface="Microsoft YaHei"/>
                <a:cs typeface="Arial"/>
              </a:rPr>
              <a:t>PART 01 · 研究背景与立题依据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08000"/>
            <a:ext cx="9906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行业背景 —— 堆肥过程中的“减污与保氮”痛点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990600"/>
            <a:ext cx="533400" cy="44450"/>
          </a:xfrm>
          <a:prstGeom prst="rect">
            <a:avLst/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800" y="990600"/>
            <a:ext cx="254000" cy="44450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9600" y="119380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 h="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2700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9600" y="645160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 h="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278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高效好氧降氨菌的筛选、机制解析及其在堆肥减排保氮中的应用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6527800"/>
            <a:ext cx="2184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03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1371600"/>
            <a:ext cx="10972800" cy="685800"/>
          </a:xfrm>
          <a:prstGeom prst="roundRect">
            <a:avLst>
              <a:gd name="adj" fmla="val 18518"/>
            </a:avLst>
          </a:prstGeom>
          <a:solidFill>
            <a:srgbClr val="F5F8FB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1416050"/>
            <a:ext cx="50800" cy="596900"/>
          </a:xfrm>
          <a:prstGeom prst="roundRect">
            <a:avLst>
              <a:gd name="adj" fmla="val 50000"/>
            </a:avLst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000" y="1371600"/>
            <a:ext cx="104140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资源化利用的必经之路　</a:t>
            </a:r>
            <a:r>
              <a:rPr sz="125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好氧堆肥是目前处理农业废弃物（畜禽粪污、秸秆等）最主流、最经济的技术。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2235200"/>
            <a:ext cx="6604000" cy="13208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9600" y="2288540"/>
            <a:ext cx="50800" cy="1214120"/>
          </a:xfrm>
          <a:prstGeom prst="roundRect">
            <a:avLst>
              <a:gd name="adj" fmla="val 50000"/>
            </a:avLst>
          </a:prstGeom>
          <a:solidFill>
            <a:srgbClr val="DD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3600" y="2413000"/>
            <a:ext cx="577818" cy="239712"/>
          </a:xfrm>
          <a:prstGeom prst="roundRect">
            <a:avLst>
              <a:gd name="adj" fmla="val 50000"/>
            </a:avLst>
          </a:prstGeom>
          <a:solidFill>
            <a:srgbClr val="FC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3600" y="2413000"/>
            <a:ext cx="577818" cy="2397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9A5A12"/>
                </a:solidFill>
                <a:latin typeface="Arial"/>
                <a:ea typeface="Microsoft YaHei"/>
                <a:cs typeface="Arial"/>
              </a:rPr>
              <a:t>痛点一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5718" y="2387600"/>
            <a:ext cx="5276882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严重的环境臭气污染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00" y="2819400"/>
            <a:ext cx="6096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4000"/>
              </a:lnSpc>
              <a:spcAft>
                <a:spcPts val="500"/>
              </a:spcAft>
              <a:buClr>
                <a:srgbClr val="DD8A2B"/>
              </a:buClr>
              <a:buFont typeface="Arial" pitchFamily="34" charset="0"/>
              <a:buChar char="•"/>
            </a:pPr>
            <a:r>
              <a:rPr sz="115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物料中富含的有机氮（蛋白质/尿素）在高温下迅速氨化，产生极高浓度的氨氮（</a:t>
            </a:r>
            <a:r>
              <a:rPr sz="1150" b="0" i="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NH</a:t>
            </a:r>
            <a:r>
              <a:rPr sz="804" b="1" i="0" baseline="-2400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4</a:t>
            </a:r>
            <a:r>
              <a:rPr sz="804" b="1" i="0" baseline="3000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+</a:t>
            </a:r>
            <a:r>
              <a:rPr sz="115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）。</a:t>
            </a:r>
          </a:p>
          <a:p>
            <a:pPr algn="l" marL="177800" indent="-177800">
              <a:lnSpc>
                <a:spcPct val="134000"/>
              </a:lnSpc>
              <a:buClr>
                <a:srgbClr val="DD8A2B"/>
              </a:buClr>
              <a:buFont typeface="Arial" pitchFamily="34" charset="0"/>
              <a:buChar char="•"/>
            </a:pPr>
            <a:r>
              <a:rPr sz="115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在堆肥的高温、偏碱性环境中，氨氮大量以</a:t>
            </a:r>
            <a:r>
              <a:rPr sz="1150" b="1" i="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氨气</a:t>
            </a:r>
            <a:r>
              <a:rPr sz="115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（NH</a:t>
            </a:r>
            <a:r>
              <a:rPr sz="804" b="0" i="0" baseline="-2400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3</a:t>
            </a:r>
            <a:r>
              <a:rPr sz="115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↑）</a:t>
            </a:r>
            <a:r>
              <a:rPr sz="115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形式挥发，导致强烈的恶臭污染。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3733800"/>
            <a:ext cx="6604000" cy="241300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9600" y="3787140"/>
            <a:ext cx="50800" cy="2306320"/>
          </a:xfrm>
          <a:prstGeom prst="roundRect">
            <a:avLst>
              <a:gd name="adj" fmla="val 50000"/>
            </a:avLst>
          </a:prstGeom>
          <a:solidFill>
            <a:srgbClr val="C6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3600" y="3937000"/>
            <a:ext cx="577818" cy="239712"/>
          </a:xfrm>
          <a:prstGeom prst="roundRect">
            <a:avLst>
              <a:gd name="adj" fmla="val 50000"/>
            </a:avLst>
          </a:prstGeom>
          <a:solidFill>
            <a:srgbClr val="FA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3600" y="3937000"/>
            <a:ext cx="577818" cy="2397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痛点二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5718" y="3911600"/>
            <a:ext cx="5276882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核心肥效（氮素）的大量流失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600" y="4343400"/>
            <a:ext cx="4013200" cy="139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6000"/>
              </a:lnSpc>
              <a:buClr>
                <a:srgbClr val="C6434B"/>
              </a:buClr>
              <a:buFont typeface="Arial" pitchFamily="34" charset="0"/>
              <a:buChar char="•"/>
            </a:pPr>
            <a:r>
              <a:rPr sz="115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氨气挥发不仅污染环境，更导致堆肥终产物中</a:t>
            </a:r>
            <a:r>
              <a:rPr sz="1150" b="1" i="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总氮流失率高达 40%-60%</a:t>
            </a:r>
            <a:r>
              <a:rPr sz="115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，严重降低了有机肥的农业价值。</a:t>
            </a:r>
          </a:p>
        </p:txBody>
      </p:sp>
      <p:sp>
        <p:nvSpPr>
          <p:cNvPr id="25" name="Freeform 24"/>
          <p:cNvSpPr/>
          <p:nvPr/>
        </p:nvSpPr>
        <p:spPr>
          <a:xfrm>
            <a:off x="5130800" y="4343400"/>
            <a:ext cx="0" cy="1524000"/>
          </a:xfrm>
          <a:custGeom>
            <a:avLst/>
            <a:gdLst/>
            <a:ahLst/>
            <a:cxnLst/>
            <a:rect l="l" t="t" r="r" b="b"/>
            <a:pathLst>
              <a:path w="0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34000" y="4470400"/>
            <a:ext cx="1676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总氮流失率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0" y="4724400"/>
            <a:ext cx="16764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40%-60%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53848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肥效与经济双重损失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67600" y="2235200"/>
            <a:ext cx="4114800" cy="3911600"/>
          </a:xfrm>
          <a:prstGeom prst="roundRect">
            <a:avLst>
              <a:gd name="adj" fmla="val 3896"/>
            </a:avLst>
          </a:prstGeom>
          <a:solidFill>
            <a:srgbClr val="F5F8FB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1600" y="24130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堆肥堆体氮素去向 · 示意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1600" y="2717800"/>
            <a:ext cx="820102" cy="265112"/>
          </a:xfrm>
          <a:prstGeom prst="roundRect">
            <a:avLst>
              <a:gd name="adj" fmla="val 50000"/>
            </a:avLst>
          </a:prstGeom>
          <a:solidFill>
            <a:srgbClr val="FC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1600" y="2717800"/>
            <a:ext cx="820102" cy="265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9A5A12"/>
                </a:solidFill>
                <a:latin typeface="Arial"/>
                <a:ea typeface="Microsoft YaHei"/>
                <a:cs typeface="Arial"/>
              </a:rPr>
              <a:t>NH3↑ 挥发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13800" y="2717800"/>
            <a:ext cx="977836" cy="265112"/>
          </a:xfrm>
          <a:prstGeom prst="roundRect">
            <a:avLst>
              <a:gd name="adj" fmla="val 50000"/>
            </a:avLst>
          </a:prstGeom>
          <a:solidFill>
            <a:srgbClr val="FA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13800" y="2717800"/>
            <a:ext cx="977836" cy="265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强烈恶臭污染</a:t>
            </a:r>
          </a:p>
        </p:txBody>
      </p:sp>
      <p:sp>
        <p:nvSpPr>
          <p:cNvPr id="35" name="Freeform 34"/>
          <p:cNvSpPr/>
          <p:nvPr/>
        </p:nvSpPr>
        <p:spPr>
          <a:xfrm>
            <a:off x="7975600" y="4521200"/>
            <a:ext cx="3098800" cy="1219200"/>
          </a:xfrm>
          <a:custGeom>
            <a:avLst/>
            <a:gdLst/>
            <a:ahLst/>
            <a:cxnLst/>
            <a:rect l="l" t="t" r="r" b="b"/>
            <a:pathLst>
              <a:path w="3098800" h="1219200">
                <a:moveTo>
                  <a:pt x="0" y="1219200"/>
                </a:moveTo>
                <a:lnTo>
                  <a:pt x="3098800" y="1219200"/>
                </a:lnTo>
                <a:lnTo>
                  <a:pt x="2641600" y="0"/>
                </a:lnTo>
                <a:lnTo>
                  <a:pt x="457200" y="0"/>
                </a:lnTo>
                <a:close/>
              </a:path>
            </a:pathLst>
          </a:custGeom>
          <a:solidFill>
            <a:srgbClr val="A68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8432800" y="4521200"/>
            <a:ext cx="2184400" cy="152400"/>
          </a:xfrm>
          <a:custGeom>
            <a:avLst/>
            <a:gdLst/>
            <a:ahLst/>
            <a:cxnLst/>
            <a:rect l="l" t="t" r="r" b="b"/>
            <a:pathLst>
              <a:path w="2184400" h="152400">
                <a:moveTo>
                  <a:pt x="0" y="0"/>
                </a:moveTo>
                <a:lnTo>
                  <a:pt x="2184400" y="0"/>
                </a:lnTo>
                <a:lnTo>
                  <a:pt x="2057400" y="152400"/>
                </a:lnTo>
                <a:lnTo>
                  <a:pt x="127000" y="152400"/>
                </a:lnTo>
                <a:close/>
              </a:path>
            </a:pathLst>
          </a:custGeom>
          <a:solidFill>
            <a:srgbClr val="8E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890000" y="5080000"/>
            <a:ext cx="63500" cy="63500"/>
          </a:xfrm>
          <a:prstGeom prst="ellipse">
            <a:avLst/>
          </a:prstGeom>
          <a:solidFill>
            <a:srgbClr val="7A5A3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23400" y="5334000"/>
            <a:ext cx="63500" cy="63500"/>
          </a:xfrm>
          <a:prstGeom prst="ellipse">
            <a:avLst/>
          </a:prstGeom>
          <a:solidFill>
            <a:srgbClr val="7A5A3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33000" y="5130800"/>
            <a:ext cx="63500" cy="63500"/>
          </a:xfrm>
          <a:prstGeom prst="ellipse">
            <a:avLst/>
          </a:prstGeom>
          <a:solidFill>
            <a:srgbClr val="7A5A3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14000" y="5435600"/>
            <a:ext cx="63500" cy="63500"/>
          </a:xfrm>
          <a:prstGeom prst="ellipse">
            <a:avLst/>
          </a:prstGeom>
          <a:solidFill>
            <a:srgbClr val="7A5A3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652000" y="4902200"/>
            <a:ext cx="63500" cy="63500"/>
          </a:xfrm>
          <a:prstGeom prst="ellipse">
            <a:avLst/>
          </a:prstGeom>
          <a:solidFill>
            <a:srgbClr val="7A5A3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5600" y="5257800"/>
            <a:ext cx="309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好氧堆肥堆体（高温 · 偏碱）</a:t>
            </a:r>
          </a:p>
        </p:txBody>
      </p:sp>
      <p:sp>
        <p:nvSpPr>
          <p:cNvPr id="43" name="Freeform 42"/>
          <p:cNvSpPr/>
          <p:nvPr/>
        </p:nvSpPr>
        <p:spPr>
          <a:xfrm>
            <a:off x="7797800" y="4089400"/>
            <a:ext cx="553445" cy="309929"/>
          </a:xfrm>
          <a:custGeom>
            <a:avLst/>
            <a:gdLst/>
            <a:ahLst/>
            <a:cxnLst/>
            <a:rect l="l" t="t" r="r" b="b"/>
            <a:pathLst>
              <a:path w="553445" h="309929">
                <a:moveTo>
                  <a:pt x="0" y="0"/>
                </a:moveTo>
                <a:lnTo>
                  <a:pt x="553445" y="309929"/>
                </a:lnTo>
              </a:path>
            </a:pathLst>
          </a:custGeom>
          <a:noFill/>
          <a:ln w="20320" cap="rnd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8328410" y="4358552"/>
            <a:ext cx="104390" cy="86448"/>
          </a:xfrm>
          <a:custGeom>
            <a:avLst/>
            <a:gdLst/>
            <a:ahLst/>
            <a:cxnLst/>
            <a:rect l="l" t="t" r="r" b="b"/>
            <a:pathLst>
              <a:path w="104390" h="86448">
                <a:moveTo>
                  <a:pt x="104390" y="86448"/>
                </a:moveTo>
                <a:lnTo>
                  <a:pt x="0" y="81555"/>
                </a:lnTo>
                <a:lnTo>
                  <a:pt x="45670" y="0"/>
                </a:lnTo>
                <a:close/>
              </a:path>
            </a:pathLst>
          </a:cu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69200" y="3810000"/>
            <a:ext cx="1651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有机氮（蛋白质/尿素）</a:t>
            </a:r>
          </a:p>
        </p:txBody>
      </p:sp>
      <p:sp>
        <p:nvSpPr>
          <p:cNvPr id="46" name="Freeform 45"/>
          <p:cNvSpPr/>
          <p:nvPr/>
        </p:nvSpPr>
        <p:spPr>
          <a:xfrm>
            <a:off x="8874340" y="3432104"/>
            <a:ext cx="91860" cy="987496"/>
          </a:xfrm>
          <a:custGeom>
            <a:avLst/>
            <a:gdLst/>
            <a:ahLst/>
            <a:cxnLst/>
            <a:rect l="l" t="t" r="r" b="b"/>
            <a:pathLst>
              <a:path w="91860" h="987496">
                <a:moveTo>
                  <a:pt x="91860" y="987496"/>
                </a:move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DD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821988" y="3327400"/>
            <a:ext cx="104704" cy="109574"/>
          </a:xfrm>
          <a:custGeom>
            <a:avLst/>
            <a:gdLst/>
            <a:ahLst/>
            <a:cxnLst/>
            <a:rect l="l" t="t" r="r" b="b"/>
            <a:pathLst>
              <a:path w="104704" h="109574">
                <a:moveTo>
                  <a:pt x="42612" y="0"/>
                </a:moveTo>
                <a:lnTo>
                  <a:pt x="104704" y="99834"/>
                </a:lnTo>
                <a:lnTo>
                  <a:pt x="0" y="109574"/>
                </a:lnTo>
                <a:close/>
              </a:path>
            </a:pathLst>
          </a:custGeom>
          <a:solidFill>
            <a:srgbClr val="DD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9550400" y="3432556"/>
            <a:ext cx="0" cy="987044"/>
          </a:xfrm>
          <a:custGeom>
            <a:avLst/>
            <a:gdLst/>
            <a:ahLst/>
            <a:cxnLst/>
            <a:rect l="l" t="t" r="r" b="b"/>
            <a:pathLst>
              <a:path w="0" h="987044">
                <a:moveTo>
                  <a:pt x="0" y="987044"/>
                </a:move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DD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9497822" y="3327400"/>
            <a:ext cx="105156" cy="105156"/>
          </a:xfrm>
          <a:custGeom>
            <a:avLst/>
            <a:gdLst/>
            <a:ahLst/>
            <a:cxnLst/>
            <a:rect l="l" t="t" r="r" b="b"/>
            <a:pathLst>
              <a:path w="105156" h="105156">
                <a:moveTo>
                  <a:pt x="52578" y="0"/>
                </a:moveTo>
                <a:lnTo>
                  <a:pt x="105156" y="105156"/>
                </a:lnTo>
                <a:lnTo>
                  <a:pt x="0" y="105156"/>
                </a:lnTo>
                <a:close/>
              </a:path>
            </a:pathLst>
          </a:custGeom>
          <a:solidFill>
            <a:srgbClr val="DD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0134600" y="3432104"/>
            <a:ext cx="91860" cy="987496"/>
          </a:xfrm>
          <a:custGeom>
            <a:avLst/>
            <a:gdLst/>
            <a:ahLst/>
            <a:cxnLst/>
            <a:rect l="l" t="t" r="r" b="b"/>
            <a:pathLst>
              <a:path w="91860" h="987496">
                <a:moveTo>
                  <a:pt x="0" y="987496"/>
                </a:moveTo>
                <a:lnTo>
                  <a:pt x="91860" y="0"/>
                </a:lnTo>
              </a:path>
            </a:pathLst>
          </a:custGeom>
          <a:noFill/>
          <a:ln w="25400" cap="rnd">
            <a:solidFill>
              <a:srgbClr val="DD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0174108" y="3327400"/>
            <a:ext cx="104704" cy="109574"/>
          </a:xfrm>
          <a:custGeom>
            <a:avLst/>
            <a:gdLst/>
            <a:ahLst/>
            <a:cxnLst/>
            <a:rect l="l" t="t" r="r" b="b"/>
            <a:pathLst>
              <a:path w="104704" h="109574">
                <a:moveTo>
                  <a:pt x="62092" y="0"/>
                </a:moveTo>
                <a:lnTo>
                  <a:pt x="104704" y="109574"/>
                </a:lnTo>
                <a:lnTo>
                  <a:pt x="0" y="99834"/>
                </a:lnTo>
                <a:close/>
              </a:path>
            </a:pathLst>
          </a:custGeom>
          <a:solidFill>
            <a:srgbClr val="DD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2A08C"/>
                </a:solidFill>
                <a:latin typeface="Arial"/>
                <a:ea typeface="Microsoft YaHei"/>
                <a:cs typeface="Arial"/>
              </a:rPr>
              <a:t>PART 01 · 研究背景与立题依据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08000"/>
            <a:ext cx="9906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科学瓶颈 —— 脱氮领域的“氧气悖论”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990600"/>
            <a:ext cx="533400" cy="44450"/>
          </a:xfrm>
          <a:prstGeom prst="rect">
            <a:avLst/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800" y="990600"/>
            <a:ext cx="254000" cy="44450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9600" y="119380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 h="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2700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9600" y="645160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 h="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278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高效好氧降氨菌的筛选、机制解析及其在堆肥减排保氮中的应用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6527800"/>
            <a:ext cx="2184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04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1422400"/>
            <a:ext cx="5130800" cy="1422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1475740"/>
            <a:ext cx="50800" cy="1315720"/>
          </a:xfrm>
          <a:prstGeom prst="roundRect">
            <a:avLst>
              <a:gd name="adj" fmla="val 5000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1600200"/>
            <a:ext cx="711200" cy="711200"/>
          </a:xfrm>
          <a:prstGeom prst="roundRect">
            <a:avLst>
              <a:gd name="adj" fmla="val 25000"/>
            </a:avLst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83480" y="1783080"/>
            <a:ext cx="345440" cy="345440"/>
          </a:xfrm>
          <a:prstGeom prst="ellipse">
            <a:avLst/>
          </a:prstGeom>
          <a:noFill/>
          <a:ln w="22860">
            <a:solidFill>
              <a:srgbClr val="C64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039614" y="1839214"/>
            <a:ext cx="233172" cy="233172"/>
          </a:xfrm>
          <a:custGeom>
            <a:avLst/>
            <a:gdLst/>
            <a:ahLst/>
            <a:cxnLst/>
            <a:rect l="l" t="t" r="r" b="b"/>
            <a:pathLst>
              <a:path w="233172" h="233172">
                <a:moveTo>
                  <a:pt x="0" y="233172"/>
                </a:moveTo>
                <a:lnTo>
                  <a:pt x="233172" y="0"/>
                </a:lnTo>
              </a:path>
            </a:pathLst>
          </a:custGeom>
          <a:noFill/>
          <a:ln w="22860" cap="rnd">
            <a:solidFill>
              <a:srgbClr val="C64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3600" y="1600200"/>
            <a:ext cx="952436" cy="239712"/>
          </a:xfrm>
          <a:prstGeom prst="roundRect">
            <a:avLst>
              <a:gd name="adj" fmla="val 50000"/>
            </a:avLst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3600" y="1600200"/>
            <a:ext cx="952436" cy="2397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2A6FB0"/>
                </a:solidFill>
                <a:latin typeface="Arial"/>
                <a:ea typeface="Microsoft YaHei"/>
                <a:cs typeface="Arial"/>
              </a:rPr>
              <a:t>传统脱氮理论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0336" y="1574800"/>
            <a:ext cx="2743264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严格厌氧的反硝化菌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00" y="2006600"/>
            <a:ext cx="38100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42000"/>
              </a:lnSpc>
              <a:buClr>
                <a:srgbClr val="2A6FB0"/>
              </a:buClr>
              <a:buFont typeface="Arial" pitchFamily="34" charset="0"/>
              <a:buChar char="•"/>
            </a:pPr>
            <a:r>
              <a:rPr sz="12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传统反硝化脱氮微生物属于</a:t>
            </a:r>
            <a:r>
              <a:rPr sz="1200" b="1" i="0">
                <a:solidFill>
                  <a:srgbClr val="2A6FB0"/>
                </a:solidFill>
                <a:latin typeface="Arial"/>
                <a:ea typeface="Microsoft YaHei"/>
                <a:cs typeface="Arial"/>
              </a:rPr>
              <a:t>严格厌氧菌</a:t>
            </a:r>
            <a:r>
              <a:rPr sz="12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（缺氧条件才能产气脱氮）。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51600" y="1422400"/>
            <a:ext cx="5130800" cy="1422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51600" y="1475740"/>
            <a:ext cx="50800" cy="1315720"/>
          </a:xfrm>
          <a:prstGeom prst="roundRect">
            <a:avLst>
              <a:gd name="adj" fmla="val 50000"/>
            </a:avLst>
          </a:prstGeom>
          <a:solidFill>
            <a:srgbClr val="0B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642600" y="1600200"/>
            <a:ext cx="711200" cy="711200"/>
          </a:xfrm>
          <a:prstGeom prst="roundRect">
            <a:avLst>
              <a:gd name="adj" fmla="val 25000"/>
            </a:avLst>
          </a:prstGeom>
          <a:solidFill>
            <a:srgbClr val="E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0803890" y="1800352"/>
            <a:ext cx="328168" cy="69088"/>
          </a:xfrm>
          <a:custGeom>
            <a:avLst/>
            <a:gdLst/>
            <a:ahLst/>
            <a:cxnLst/>
            <a:rect l="l" t="t" r="r" b="b"/>
            <a:pathLst>
              <a:path w="328168" h="69088">
                <a:moveTo>
                  <a:pt x="0" y="43180"/>
                </a:moveTo>
                <a:lnTo>
                  <a:pt x="7395" y="40971"/>
                </a:lnTo>
                <a:lnTo>
                  <a:pt x="15370" y="38432"/>
                </a:lnTo>
                <a:lnTo>
                  <a:pt x="23858" y="35618"/>
                </a:lnTo>
                <a:lnTo>
                  <a:pt x="32793" y="32587"/>
                </a:lnTo>
                <a:lnTo>
                  <a:pt x="42111" y="29396"/>
                </a:lnTo>
                <a:lnTo>
                  <a:pt x="51746" y="26102"/>
                </a:lnTo>
                <a:lnTo>
                  <a:pt x="61633" y="22761"/>
                </a:lnTo>
                <a:lnTo>
                  <a:pt x="71706" y="19431"/>
                </a:lnTo>
                <a:lnTo>
                  <a:pt x="81899" y="16168"/>
                </a:lnTo>
                <a:lnTo>
                  <a:pt x="92148" y="13030"/>
                </a:lnTo>
                <a:lnTo>
                  <a:pt x="102386" y="10073"/>
                </a:lnTo>
                <a:lnTo>
                  <a:pt x="112548" y="7354"/>
                </a:lnTo>
                <a:lnTo>
                  <a:pt x="122569" y="4930"/>
                </a:lnTo>
                <a:lnTo>
                  <a:pt x="132383" y="2859"/>
                </a:lnTo>
                <a:lnTo>
                  <a:pt x="141926" y="1197"/>
                </a:lnTo>
                <a:lnTo>
                  <a:pt x="151130" y="0"/>
                </a:lnTo>
                <a:lnTo>
                  <a:pt x="159292" y="2863"/>
                </a:lnTo>
                <a:lnTo>
                  <a:pt x="167467" y="6275"/>
                </a:lnTo>
                <a:lnTo>
                  <a:pt x="175640" y="10158"/>
                </a:lnTo>
                <a:lnTo>
                  <a:pt x="183795" y="14438"/>
                </a:lnTo>
                <a:lnTo>
                  <a:pt x="191917" y="19039"/>
                </a:lnTo>
                <a:lnTo>
                  <a:pt x="199990" y="23884"/>
                </a:lnTo>
                <a:lnTo>
                  <a:pt x="207998" y="28898"/>
                </a:lnTo>
                <a:lnTo>
                  <a:pt x="215927" y="34004"/>
                </a:lnTo>
                <a:lnTo>
                  <a:pt x="223760" y="39128"/>
                </a:lnTo>
                <a:lnTo>
                  <a:pt x="231483" y="44192"/>
                </a:lnTo>
                <a:lnTo>
                  <a:pt x="239080" y="49121"/>
                </a:lnTo>
                <a:lnTo>
                  <a:pt x="246534" y="53840"/>
                </a:lnTo>
                <a:lnTo>
                  <a:pt x="253832" y="58272"/>
                </a:lnTo>
                <a:lnTo>
                  <a:pt x="260956" y="62341"/>
                </a:lnTo>
                <a:lnTo>
                  <a:pt x="267892" y="65972"/>
                </a:lnTo>
                <a:lnTo>
                  <a:pt x="274625" y="69088"/>
                </a:lnTo>
                <a:lnTo>
                  <a:pt x="278981" y="68750"/>
                </a:lnTo>
                <a:lnTo>
                  <a:pt x="283174" y="68034"/>
                </a:lnTo>
                <a:lnTo>
                  <a:pt x="287211" y="66985"/>
                </a:lnTo>
                <a:lnTo>
                  <a:pt x="291097" y="65647"/>
                </a:lnTo>
                <a:lnTo>
                  <a:pt x="294839" y="64065"/>
                </a:lnTo>
                <a:lnTo>
                  <a:pt x="298442" y="62282"/>
                </a:lnTo>
                <a:lnTo>
                  <a:pt x="301912" y="60343"/>
                </a:lnTo>
                <a:lnTo>
                  <a:pt x="305256" y="58293"/>
                </a:lnTo>
                <a:lnTo>
                  <a:pt x="308479" y="56175"/>
                </a:lnTo>
                <a:lnTo>
                  <a:pt x="311587" y="54034"/>
                </a:lnTo>
                <a:lnTo>
                  <a:pt x="314587" y="51914"/>
                </a:lnTo>
                <a:lnTo>
                  <a:pt x="317484" y="49859"/>
                </a:lnTo>
                <a:lnTo>
                  <a:pt x="320285" y="47914"/>
                </a:lnTo>
                <a:lnTo>
                  <a:pt x="322995" y="46123"/>
                </a:lnTo>
                <a:lnTo>
                  <a:pt x="325621" y="44530"/>
                </a:lnTo>
                <a:lnTo>
                  <a:pt x="328168" y="43180"/>
                </a:lnTo>
              </a:path>
            </a:pathLst>
          </a:custGeom>
          <a:noFill/>
          <a:ln w="20320" cap="rnd">
            <a:solidFill>
              <a:srgbClr val="0B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0803890" y="1912620"/>
            <a:ext cx="379984" cy="69088"/>
          </a:xfrm>
          <a:custGeom>
            <a:avLst/>
            <a:gdLst/>
            <a:ahLst/>
            <a:cxnLst/>
            <a:rect l="l" t="t" r="r" b="b"/>
            <a:pathLst>
              <a:path w="379984" h="69088">
                <a:moveTo>
                  <a:pt x="0" y="43180"/>
                </a:moveTo>
                <a:lnTo>
                  <a:pt x="7367" y="40971"/>
                </a:lnTo>
                <a:lnTo>
                  <a:pt x="15264" y="38432"/>
                </a:lnTo>
                <a:lnTo>
                  <a:pt x="23636" y="35618"/>
                </a:lnTo>
                <a:lnTo>
                  <a:pt x="32429" y="32587"/>
                </a:lnTo>
                <a:lnTo>
                  <a:pt x="41589" y="29396"/>
                </a:lnTo>
                <a:lnTo>
                  <a:pt x="51063" y="26102"/>
                </a:lnTo>
                <a:lnTo>
                  <a:pt x="60796" y="22761"/>
                </a:lnTo>
                <a:lnTo>
                  <a:pt x="70734" y="19431"/>
                </a:lnTo>
                <a:lnTo>
                  <a:pt x="80823" y="16168"/>
                </a:lnTo>
                <a:lnTo>
                  <a:pt x="91009" y="13030"/>
                </a:lnTo>
                <a:lnTo>
                  <a:pt x="101238" y="10073"/>
                </a:lnTo>
                <a:lnTo>
                  <a:pt x="111455" y="7354"/>
                </a:lnTo>
                <a:lnTo>
                  <a:pt x="121607" y="4930"/>
                </a:lnTo>
                <a:lnTo>
                  <a:pt x="131640" y="2859"/>
                </a:lnTo>
                <a:lnTo>
                  <a:pt x="141499" y="1197"/>
                </a:lnTo>
                <a:lnTo>
                  <a:pt x="151130" y="0"/>
                </a:lnTo>
                <a:lnTo>
                  <a:pt x="160818" y="2863"/>
                </a:lnTo>
                <a:lnTo>
                  <a:pt x="170645" y="6275"/>
                </a:lnTo>
                <a:lnTo>
                  <a:pt x="180581" y="10158"/>
                </a:lnTo>
                <a:lnTo>
                  <a:pt x="190596" y="14438"/>
                </a:lnTo>
                <a:lnTo>
                  <a:pt x="200658" y="19039"/>
                </a:lnTo>
                <a:lnTo>
                  <a:pt x="210737" y="23884"/>
                </a:lnTo>
                <a:lnTo>
                  <a:pt x="220803" y="28898"/>
                </a:lnTo>
                <a:lnTo>
                  <a:pt x="230824" y="34004"/>
                </a:lnTo>
                <a:lnTo>
                  <a:pt x="240770" y="39128"/>
                </a:lnTo>
                <a:lnTo>
                  <a:pt x="250611" y="44192"/>
                </a:lnTo>
                <a:lnTo>
                  <a:pt x="260315" y="49121"/>
                </a:lnTo>
                <a:lnTo>
                  <a:pt x="269851" y="53840"/>
                </a:lnTo>
                <a:lnTo>
                  <a:pt x="279190" y="58272"/>
                </a:lnTo>
                <a:lnTo>
                  <a:pt x="288301" y="62341"/>
                </a:lnTo>
                <a:lnTo>
                  <a:pt x="297153" y="65972"/>
                </a:lnTo>
                <a:lnTo>
                  <a:pt x="305714" y="69088"/>
                </a:lnTo>
                <a:lnTo>
                  <a:pt x="311527" y="68750"/>
                </a:lnTo>
                <a:lnTo>
                  <a:pt x="317174" y="68034"/>
                </a:lnTo>
                <a:lnTo>
                  <a:pt x="322656" y="66985"/>
                </a:lnTo>
                <a:lnTo>
                  <a:pt x="327976" y="65647"/>
                </a:lnTo>
                <a:lnTo>
                  <a:pt x="333136" y="64065"/>
                </a:lnTo>
                <a:lnTo>
                  <a:pt x="338139" y="62282"/>
                </a:lnTo>
                <a:lnTo>
                  <a:pt x="342986" y="60343"/>
                </a:lnTo>
                <a:lnTo>
                  <a:pt x="347680" y="58293"/>
                </a:lnTo>
                <a:lnTo>
                  <a:pt x="352223" y="56175"/>
                </a:lnTo>
                <a:lnTo>
                  <a:pt x="356617" y="54034"/>
                </a:lnTo>
                <a:lnTo>
                  <a:pt x="360865" y="51914"/>
                </a:lnTo>
                <a:lnTo>
                  <a:pt x="364969" y="49859"/>
                </a:lnTo>
                <a:lnTo>
                  <a:pt x="368930" y="47914"/>
                </a:lnTo>
                <a:lnTo>
                  <a:pt x="372752" y="46123"/>
                </a:lnTo>
                <a:lnTo>
                  <a:pt x="376436" y="44530"/>
                </a:lnTo>
                <a:lnTo>
                  <a:pt x="379984" y="43180"/>
                </a:lnTo>
              </a:path>
            </a:pathLst>
          </a:custGeom>
          <a:noFill/>
          <a:ln w="20320" cap="rnd">
            <a:solidFill>
              <a:srgbClr val="0B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0803890" y="2024888"/>
            <a:ext cx="302260" cy="69088"/>
          </a:xfrm>
          <a:custGeom>
            <a:avLst/>
            <a:gdLst/>
            <a:ahLst/>
            <a:cxnLst/>
            <a:rect l="l" t="t" r="r" b="b"/>
            <a:pathLst>
              <a:path w="302260" h="69088">
                <a:moveTo>
                  <a:pt x="0" y="43180"/>
                </a:moveTo>
                <a:lnTo>
                  <a:pt x="7410" y="40971"/>
                </a:lnTo>
                <a:lnTo>
                  <a:pt x="15423" y="38432"/>
                </a:lnTo>
                <a:lnTo>
                  <a:pt x="23969" y="35618"/>
                </a:lnTo>
                <a:lnTo>
                  <a:pt x="32975" y="32587"/>
                </a:lnTo>
                <a:lnTo>
                  <a:pt x="42372" y="29396"/>
                </a:lnTo>
                <a:lnTo>
                  <a:pt x="52088" y="26102"/>
                </a:lnTo>
                <a:lnTo>
                  <a:pt x="62051" y="22761"/>
                </a:lnTo>
                <a:lnTo>
                  <a:pt x="72192" y="19431"/>
                </a:lnTo>
                <a:lnTo>
                  <a:pt x="82437" y="16168"/>
                </a:lnTo>
                <a:lnTo>
                  <a:pt x="92717" y="13030"/>
                </a:lnTo>
                <a:lnTo>
                  <a:pt x="102960" y="10073"/>
                </a:lnTo>
                <a:lnTo>
                  <a:pt x="113094" y="7354"/>
                </a:lnTo>
                <a:lnTo>
                  <a:pt x="123050" y="4930"/>
                </a:lnTo>
                <a:lnTo>
                  <a:pt x="132755" y="2859"/>
                </a:lnTo>
                <a:lnTo>
                  <a:pt x="142139" y="1197"/>
                </a:lnTo>
                <a:lnTo>
                  <a:pt x="151130" y="0"/>
                </a:lnTo>
                <a:lnTo>
                  <a:pt x="158529" y="2863"/>
                </a:lnTo>
                <a:lnTo>
                  <a:pt x="165878" y="6275"/>
                </a:lnTo>
                <a:lnTo>
                  <a:pt x="173169" y="10158"/>
                </a:lnTo>
                <a:lnTo>
                  <a:pt x="180395" y="14438"/>
                </a:lnTo>
                <a:lnTo>
                  <a:pt x="187546" y="19039"/>
                </a:lnTo>
                <a:lnTo>
                  <a:pt x="194616" y="23884"/>
                </a:lnTo>
                <a:lnTo>
                  <a:pt x="201596" y="28898"/>
                </a:lnTo>
                <a:lnTo>
                  <a:pt x="208478" y="34004"/>
                </a:lnTo>
                <a:lnTo>
                  <a:pt x="215256" y="39128"/>
                </a:lnTo>
                <a:lnTo>
                  <a:pt x="221919" y="44192"/>
                </a:lnTo>
                <a:lnTo>
                  <a:pt x="228462" y="49121"/>
                </a:lnTo>
                <a:lnTo>
                  <a:pt x="234876" y="53840"/>
                </a:lnTo>
                <a:lnTo>
                  <a:pt x="241152" y="58272"/>
                </a:lnTo>
                <a:lnTo>
                  <a:pt x="247284" y="62341"/>
                </a:lnTo>
                <a:lnTo>
                  <a:pt x="253262" y="65972"/>
                </a:lnTo>
                <a:lnTo>
                  <a:pt x="259080" y="69088"/>
                </a:lnTo>
                <a:lnTo>
                  <a:pt x="262708" y="68750"/>
                </a:lnTo>
                <a:lnTo>
                  <a:pt x="266175" y="68034"/>
                </a:lnTo>
                <a:lnTo>
                  <a:pt x="269489" y="66985"/>
                </a:lnTo>
                <a:lnTo>
                  <a:pt x="272658" y="65647"/>
                </a:lnTo>
                <a:lnTo>
                  <a:pt x="275690" y="64065"/>
                </a:lnTo>
                <a:lnTo>
                  <a:pt x="278593" y="62282"/>
                </a:lnTo>
                <a:lnTo>
                  <a:pt x="281375" y="60343"/>
                </a:lnTo>
                <a:lnTo>
                  <a:pt x="284043" y="58293"/>
                </a:lnTo>
                <a:lnTo>
                  <a:pt x="286606" y="56175"/>
                </a:lnTo>
                <a:lnTo>
                  <a:pt x="289072" y="54034"/>
                </a:lnTo>
                <a:lnTo>
                  <a:pt x="291448" y="51914"/>
                </a:lnTo>
                <a:lnTo>
                  <a:pt x="293742" y="49859"/>
                </a:lnTo>
                <a:lnTo>
                  <a:pt x="295962" y="47914"/>
                </a:lnTo>
                <a:lnTo>
                  <a:pt x="298117" y="46123"/>
                </a:lnTo>
                <a:lnTo>
                  <a:pt x="300214" y="44530"/>
                </a:lnTo>
                <a:lnTo>
                  <a:pt x="302260" y="43180"/>
                </a:lnTo>
              </a:path>
            </a:pathLst>
          </a:custGeom>
          <a:noFill/>
          <a:ln w="20320" cap="rnd">
            <a:solidFill>
              <a:srgbClr val="0B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05600" y="1600200"/>
            <a:ext cx="952436" cy="239712"/>
          </a:xfrm>
          <a:prstGeom prst="roundRect">
            <a:avLst>
              <a:gd name="adj" fmla="val 50000"/>
            </a:avLst>
          </a:prstGeom>
          <a:solidFill>
            <a:srgbClr val="E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5600" y="1600200"/>
            <a:ext cx="952436" cy="2397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现代堆肥工艺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336" y="1574800"/>
            <a:ext cx="2743264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强制通风 · 极度好氧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600" y="2006600"/>
            <a:ext cx="38100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42000"/>
              </a:lnSpc>
              <a:buClr>
                <a:srgbClr val="0B7A6B"/>
              </a:buClr>
              <a:buFont typeface="Arial" pitchFamily="34" charset="0"/>
              <a:buChar char="•"/>
            </a:pPr>
            <a:r>
              <a:rPr sz="12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现代堆肥工艺为了发酵和升温，必须进行</a:t>
            </a:r>
            <a:r>
              <a:rPr sz="120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强制通风</a:t>
            </a:r>
            <a:r>
              <a:rPr sz="12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（极度好氧环境）。</a:t>
            </a:r>
          </a:p>
        </p:txBody>
      </p:sp>
      <p:sp>
        <p:nvSpPr>
          <p:cNvPr id="29" name="Oval 28"/>
          <p:cNvSpPr/>
          <p:nvPr/>
        </p:nvSpPr>
        <p:spPr>
          <a:xfrm>
            <a:off x="5791200" y="1828800"/>
            <a:ext cx="609600" cy="609600"/>
          </a:xfrm>
          <a:prstGeom prst="ellipse">
            <a:avLst/>
          </a:prstGeom>
          <a:solidFill>
            <a:srgbClr val="0A2A4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91200" y="18288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VS</a:t>
            </a:r>
          </a:p>
        </p:txBody>
      </p:sp>
      <p:sp>
        <p:nvSpPr>
          <p:cNvPr id="31" name="Freeform 30"/>
          <p:cNvSpPr/>
          <p:nvPr/>
        </p:nvSpPr>
        <p:spPr>
          <a:xfrm>
            <a:off x="5466588" y="2133600"/>
            <a:ext cx="273812" cy="0"/>
          </a:xfrm>
          <a:custGeom>
            <a:avLst/>
            <a:gdLst/>
            <a:ahLst/>
            <a:cxnLst/>
            <a:rect l="l" t="t" r="r" b="b"/>
            <a:pathLst>
              <a:path w="273812" h="0">
                <a:moveTo>
                  <a:pt x="273812" y="0"/>
                </a:moveTo>
                <a:lnTo>
                  <a:pt x="0" y="0"/>
                </a:lnTo>
              </a:path>
            </a:pathLst>
          </a:custGeom>
          <a:noFill/>
          <a:ln w="20320" cap="rnd">
            <a:solidFill>
              <a:srgbClr val="0A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384800" y="2092706"/>
            <a:ext cx="81788" cy="81788"/>
          </a:xfrm>
          <a:custGeom>
            <a:avLst/>
            <a:gdLst/>
            <a:ahLst/>
            <a:cxnLst/>
            <a:rect l="l" t="t" r="r" b="b"/>
            <a:pathLst>
              <a:path w="81788" h="81788">
                <a:moveTo>
                  <a:pt x="0" y="40894"/>
                </a:moveTo>
                <a:lnTo>
                  <a:pt x="81788" y="0"/>
                </a:lnTo>
                <a:lnTo>
                  <a:pt x="81788" y="81788"/>
                </a:lnTo>
                <a:close/>
              </a:path>
            </a:pathLst>
          </a:custGeom>
          <a:solidFill>
            <a:srgbClr val="0A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6451600" y="2133600"/>
            <a:ext cx="273812" cy="0"/>
          </a:xfrm>
          <a:custGeom>
            <a:avLst/>
            <a:gdLst/>
            <a:ahLst/>
            <a:cxnLst/>
            <a:rect l="l" t="t" r="r" b="b"/>
            <a:pathLst>
              <a:path w="273812" h="0">
                <a:moveTo>
                  <a:pt x="0" y="0"/>
                </a:moveTo>
                <a:lnTo>
                  <a:pt x="273812" y="0"/>
                </a:lnTo>
              </a:path>
            </a:pathLst>
          </a:custGeom>
          <a:noFill/>
          <a:ln w="20320" cap="rnd">
            <a:solidFill>
              <a:srgbClr val="0A2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6725412" y="2092706"/>
            <a:ext cx="81788" cy="81788"/>
          </a:xfrm>
          <a:custGeom>
            <a:avLst/>
            <a:gdLst/>
            <a:ahLst/>
            <a:cxnLst/>
            <a:rect l="l" t="t" r="r" b="b"/>
            <a:pathLst>
              <a:path w="81788" h="81788">
                <a:moveTo>
                  <a:pt x="81788" y="40894"/>
                </a:moveTo>
                <a:lnTo>
                  <a:pt x="0" y="81788"/>
                </a:lnTo>
                <a:lnTo>
                  <a:pt x="0" y="0"/>
                </a:lnTo>
                <a:close/>
              </a:path>
            </a:pathLst>
          </a:custGeom>
          <a:solidFill>
            <a:srgbClr val="0A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9600" y="3098800"/>
            <a:ext cx="10972800" cy="787400"/>
          </a:xfrm>
          <a:prstGeom prst="roundRect">
            <a:avLst>
              <a:gd name="adj" fmla="val 16129"/>
            </a:avLst>
          </a:prstGeom>
          <a:solidFill>
            <a:srgbClr val="FA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9600" y="3143250"/>
            <a:ext cx="50800" cy="698500"/>
          </a:xfrm>
          <a:prstGeom prst="roundRect">
            <a:avLst>
              <a:gd name="adj" fmla="val 50000"/>
            </a:avLst>
          </a:prstGeom>
          <a:solidFill>
            <a:srgbClr val="C6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9000" y="3098800"/>
            <a:ext cx="10414000" cy="78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核心矛盾　</a:t>
            </a:r>
            <a:r>
              <a:rPr sz="125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传统脱氮菌在好氧堆肥体系中，会因</a:t>
            </a:r>
            <a:r>
              <a:rPr sz="1250" b="1" i="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“氧气毒害”</a:t>
            </a:r>
            <a:r>
              <a:rPr sz="125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而失活，无法完成脱氮任务。</a:t>
            </a:r>
          </a:p>
        </p:txBody>
      </p:sp>
      <p:sp>
        <p:nvSpPr>
          <p:cNvPr id="38" name="Freeform 37"/>
          <p:cNvSpPr/>
          <p:nvPr/>
        </p:nvSpPr>
        <p:spPr>
          <a:xfrm>
            <a:off x="6096000" y="3962400"/>
            <a:ext cx="0" cy="135128"/>
          </a:xfrm>
          <a:custGeom>
            <a:avLst/>
            <a:gdLst/>
            <a:ahLst/>
            <a:cxnLst/>
            <a:rect l="l" t="t" r="r" b="b"/>
            <a:pathLst>
              <a:path w="0" h="135128">
                <a:moveTo>
                  <a:pt x="0" y="0"/>
                </a:moveTo>
                <a:lnTo>
                  <a:pt x="0" y="135128"/>
                </a:lnTo>
              </a:path>
            </a:pathLst>
          </a:custGeom>
          <a:noFill/>
          <a:ln w="20320" cap="rnd">
            <a:solidFill>
              <a:srgbClr val="94A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049264" y="4097528"/>
            <a:ext cx="93472" cy="93472"/>
          </a:xfrm>
          <a:custGeom>
            <a:avLst/>
            <a:gdLst/>
            <a:ahLst/>
            <a:cxnLst/>
            <a:rect l="l" t="t" r="r" b="b"/>
            <a:pathLst>
              <a:path w="93472" h="93472">
                <a:moveTo>
                  <a:pt x="46736" y="93472"/>
                </a:moveTo>
                <a:lnTo>
                  <a:pt x="0" y="0"/>
                </a:lnTo>
                <a:lnTo>
                  <a:pt x="93472" y="0"/>
                </a:lnTo>
                <a:close/>
              </a:path>
            </a:pathLst>
          </a:custGeom>
          <a:solidFill>
            <a:srgbClr val="94A2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09600" y="4267200"/>
            <a:ext cx="10972800" cy="1117600"/>
          </a:xfrm>
          <a:prstGeom prst="roundRect">
            <a:avLst>
              <a:gd name="adj" fmla="val 11363"/>
            </a:avLst>
          </a:prstGeom>
          <a:solidFill>
            <a:srgbClr val="E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9600" y="4311650"/>
            <a:ext cx="50800" cy="1028700"/>
          </a:xfrm>
          <a:prstGeom prst="roundRect">
            <a:avLst>
              <a:gd name="adj" fmla="val 50000"/>
            </a:avLst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000" y="4267200"/>
            <a:ext cx="10414000" cy="1117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破局思路　</a:t>
            </a:r>
            <a:r>
              <a:rPr sz="13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亟需寻找能够在</a:t>
            </a:r>
            <a:r>
              <a:rPr sz="130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高溶解氧</a:t>
            </a:r>
            <a:r>
              <a:rPr sz="13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条件下，依然保持</a:t>
            </a:r>
            <a:r>
              <a:rPr sz="130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高效氮素转化能力</a:t>
            </a:r>
            <a:r>
              <a:rPr sz="13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的特异性微生物群落。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36200" y="5588000"/>
            <a:ext cx="1195475" cy="2778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36200" y="5588000"/>
            <a:ext cx="1195475" cy="2778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→ 见下页 HN-AD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2A08C"/>
                </a:solidFill>
                <a:latin typeface="Arial"/>
                <a:ea typeface="Microsoft YaHei"/>
                <a:cs typeface="Arial"/>
              </a:rPr>
              <a:t>PART 01 · 研究背景与立题依据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08000"/>
            <a:ext cx="9906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解决方案 —— HN-AD 菌（本课题的核心主角）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990600"/>
            <a:ext cx="533400" cy="44450"/>
          </a:xfrm>
          <a:prstGeom prst="rect">
            <a:avLst/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800" y="990600"/>
            <a:ext cx="254000" cy="44450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9600" y="119380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 h="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2700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9600" y="645160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 h="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278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高效好氧降氨菌的筛选、机制解析及其在堆肥减排保氮中的应用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6527800"/>
            <a:ext cx="2184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05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1371600"/>
            <a:ext cx="10972800" cy="254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1549400"/>
            <a:ext cx="533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异养硝化-好氧反硝化（HN-AD）细菌 · 同步转化路径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1498600"/>
            <a:ext cx="1477327" cy="265112"/>
          </a:xfrm>
          <a:prstGeom prst="roundRect">
            <a:avLst>
              <a:gd name="adj" fmla="val 50000"/>
            </a:avLst>
          </a:prstGeom>
          <a:solidFill>
            <a:srgbClr val="E2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7200" y="1498600"/>
            <a:ext cx="1477327" cy="265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好氧体系（高溶解氧）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31400" y="1498600"/>
            <a:ext cx="977836" cy="265112"/>
          </a:xfrm>
          <a:prstGeom prst="roundRect">
            <a:avLst>
              <a:gd name="adj" fmla="val 50000"/>
            </a:avLst>
          </a:prstGeom>
          <a:solidFill>
            <a:srgbClr val="FC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31400" y="1498600"/>
            <a:ext cx="977836" cy="265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9A5A12"/>
                </a:solidFill>
                <a:latin typeface="Arial"/>
                <a:ea typeface="Microsoft YaHei"/>
                <a:cs typeface="Arial"/>
              </a:rPr>
              <a:t>有机碳源驱动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800" y="2159000"/>
            <a:ext cx="16764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DD8A2B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6800" y="2159000"/>
            <a:ext cx="1676400" cy="63500"/>
          </a:xfrm>
          <a:prstGeom prst="roundRect">
            <a:avLst>
              <a:gd name="adj" fmla="val 50000"/>
            </a:avLst>
          </a:prstGeom>
          <a:solidFill>
            <a:srgbClr val="DD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600" y="2222500"/>
            <a:ext cx="15748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NH</a:t>
            </a:r>
            <a:r>
              <a:rPr sz="1120" b="1" i="0" baseline="-2400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4</a:t>
            </a:r>
            <a:r>
              <a:rPr sz="1120" b="1" i="0" baseline="3000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+</a:t>
            </a:r>
            <a:r>
              <a:rPr sz="1600" b="1" i="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-N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2616200"/>
            <a:ext cx="1676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氨氮（污染底物）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2200" y="2159000"/>
            <a:ext cx="16764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C6434B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32200" y="2159000"/>
            <a:ext cx="1676400" cy="63500"/>
          </a:xfrm>
          <a:prstGeom prst="roundRect">
            <a:avLst>
              <a:gd name="adj" fmla="val 50000"/>
            </a:avLst>
          </a:prstGeom>
          <a:solidFill>
            <a:srgbClr val="C6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83000" y="2222500"/>
            <a:ext cx="15748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NO</a:t>
            </a:r>
            <a:r>
              <a:rPr sz="1120" b="1" i="0" baseline="-2400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2</a:t>
            </a:r>
            <a:r>
              <a:rPr sz="1120" b="1" i="0" baseline="3000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-</a:t>
            </a:r>
            <a:r>
              <a:rPr sz="1600" b="1" i="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-N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2200" y="2616200"/>
            <a:ext cx="1676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亚硝酸盐（中间态）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7600" y="2159000"/>
            <a:ext cx="16764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2E9A5B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7600" y="2159000"/>
            <a:ext cx="1676400" cy="63500"/>
          </a:xfrm>
          <a:prstGeom prst="roundRect">
            <a:avLst>
              <a:gd name="adj" fmla="val 50000"/>
            </a:avLst>
          </a:prstGeom>
          <a:solidFill>
            <a:srgbClr val="2E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8400" y="2222500"/>
            <a:ext cx="15748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9A5B"/>
                </a:solidFill>
                <a:latin typeface="Arial"/>
                <a:ea typeface="Microsoft YaHei"/>
                <a:cs typeface="Arial"/>
              </a:rPr>
              <a:t>NO</a:t>
            </a:r>
            <a:r>
              <a:rPr sz="1120" b="1" i="0" baseline="-24000">
                <a:solidFill>
                  <a:srgbClr val="2E9A5B"/>
                </a:solidFill>
                <a:latin typeface="Arial"/>
                <a:ea typeface="Microsoft YaHei"/>
                <a:cs typeface="Arial"/>
              </a:rPr>
              <a:t>3</a:t>
            </a:r>
            <a:r>
              <a:rPr sz="1120" b="1" i="0" baseline="30000">
                <a:solidFill>
                  <a:srgbClr val="2E9A5B"/>
                </a:solidFill>
                <a:latin typeface="Arial"/>
                <a:ea typeface="Microsoft YaHei"/>
                <a:cs typeface="Arial"/>
              </a:rPr>
              <a:t>-</a:t>
            </a:r>
            <a:r>
              <a:rPr sz="1600" b="1" i="0">
                <a:solidFill>
                  <a:srgbClr val="2E9A5B"/>
                </a:solidFill>
                <a:latin typeface="Arial"/>
                <a:ea typeface="Microsoft YaHei"/>
                <a:cs typeface="Arial"/>
              </a:rPr>
              <a:t>-N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7600" y="2616200"/>
            <a:ext cx="1676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硝酸盐（稳定态）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63000" y="2159000"/>
            <a:ext cx="16764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1C5590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63000" y="2159000"/>
            <a:ext cx="1676400" cy="63500"/>
          </a:xfrm>
          <a:prstGeom prst="roundRect">
            <a:avLst>
              <a:gd name="adj" fmla="val 50000"/>
            </a:avLst>
          </a:prstGeom>
          <a:solidFill>
            <a:srgbClr val="1C5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13800" y="2222500"/>
            <a:ext cx="15748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C5590"/>
                </a:solidFill>
                <a:latin typeface="Arial"/>
                <a:ea typeface="Microsoft YaHei"/>
                <a:cs typeface="Arial"/>
              </a:rPr>
              <a:t>N</a:t>
            </a:r>
            <a:r>
              <a:rPr sz="1120" b="1" i="0" baseline="-24000">
                <a:solidFill>
                  <a:srgbClr val="1C5590"/>
                </a:solidFill>
                <a:latin typeface="Arial"/>
                <a:ea typeface="Microsoft YaHei"/>
                <a:cs typeface="Arial"/>
              </a:rPr>
              <a:t>2</a:t>
            </a:r>
            <a:r>
              <a:rPr sz="1600" b="1" i="0">
                <a:solidFill>
                  <a:srgbClr val="1C5590"/>
                </a:solidFill>
                <a:latin typeface="Arial"/>
                <a:ea typeface="Microsoft YaHei"/>
                <a:cs typeface="Arial"/>
              </a:rPr>
              <a:t>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3000" y="2616200"/>
            <a:ext cx="1676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氮气（无害逸出）</a:t>
            </a:r>
          </a:p>
        </p:txBody>
      </p:sp>
      <p:sp>
        <p:nvSpPr>
          <p:cNvPr id="32" name="Freeform 31"/>
          <p:cNvSpPr/>
          <p:nvPr/>
        </p:nvSpPr>
        <p:spPr>
          <a:xfrm>
            <a:off x="2794000" y="2540000"/>
            <a:ext cx="682244" cy="0"/>
          </a:xfrm>
          <a:custGeom>
            <a:avLst/>
            <a:gdLst/>
            <a:ahLst/>
            <a:cxnLst/>
            <a:rect l="l" t="t" r="r" b="b"/>
            <a:pathLst>
              <a:path w="682244" h="0">
                <a:moveTo>
                  <a:pt x="0" y="0"/>
                </a:moveTo>
                <a:lnTo>
                  <a:pt x="682244" y="0"/>
                </a:lnTo>
              </a:path>
            </a:pathLst>
          </a:custGeom>
          <a:noFill/>
          <a:ln w="25400" cap="rnd">
            <a:solidFill>
              <a:srgbClr val="0F3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476244" y="2487422"/>
            <a:ext cx="105156" cy="105156"/>
          </a:xfrm>
          <a:custGeom>
            <a:avLst/>
            <a:gdLst/>
            <a:ahLst/>
            <a:cxnLst/>
            <a:rect l="l" t="t" r="r" b="b"/>
            <a:pathLst>
              <a:path w="105156" h="105156">
                <a:moveTo>
                  <a:pt x="105156" y="52578"/>
                </a:moveTo>
                <a:lnTo>
                  <a:pt x="0" y="105156"/>
                </a:lnTo>
                <a:lnTo>
                  <a:pt x="0" y="0"/>
                </a:lnTo>
                <a:close/>
              </a:path>
            </a:pathLst>
          </a:cu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9700" y="2209800"/>
            <a:ext cx="1016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氨氧化</a:t>
            </a:r>
          </a:p>
        </p:txBody>
      </p:sp>
      <p:sp>
        <p:nvSpPr>
          <p:cNvPr id="35" name="Freeform 34"/>
          <p:cNvSpPr/>
          <p:nvPr/>
        </p:nvSpPr>
        <p:spPr>
          <a:xfrm>
            <a:off x="5359400" y="2540000"/>
            <a:ext cx="682244" cy="0"/>
          </a:xfrm>
          <a:custGeom>
            <a:avLst/>
            <a:gdLst/>
            <a:ahLst/>
            <a:cxnLst/>
            <a:rect l="l" t="t" r="r" b="b"/>
            <a:pathLst>
              <a:path w="682244" h="0">
                <a:moveTo>
                  <a:pt x="0" y="0"/>
                </a:moveTo>
                <a:lnTo>
                  <a:pt x="682244" y="0"/>
                </a:lnTo>
              </a:path>
            </a:pathLst>
          </a:custGeom>
          <a:noFill/>
          <a:ln w="25400" cap="rnd">
            <a:solidFill>
              <a:srgbClr val="0F3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041644" y="2487422"/>
            <a:ext cx="105156" cy="105156"/>
          </a:xfrm>
          <a:custGeom>
            <a:avLst/>
            <a:gdLst/>
            <a:ahLst/>
            <a:cxnLst/>
            <a:rect l="l" t="t" r="r" b="b"/>
            <a:pathLst>
              <a:path w="105156" h="105156">
                <a:moveTo>
                  <a:pt x="105156" y="52578"/>
                </a:moveTo>
                <a:lnTo>
                  <a:pt x="0" y="105156"/>
                </a:lnTo>
                <a:lnTo>
                  <a:pt x="0" y="0"/>
                </a:lnTo>
                <a:close/>
              </a:path>
            </a:pathLst>
          </a:cu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45100" y="2209800"/>
            <a:ext cx="1016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硝化</a:t>
            </a:r>
          </a:p>
        </p:txBody>
      </p:sp>
      <p:sp>
        <p:nvSpPr>
          <p:cNvPr id="38" name="Freeform 37"/>
          <p:cNvSpPr/>
          <p:nvPr/>
        </p:nvSpPr>
        <p:spPr>
          <a:xfrm>
            <a:off x="7924800" y="2540000"/>
            <a:ext cx="682244" cy="0"/>
          </a:xfrm>
          <a:custGeom>
            <a:avLst/>
            <a:gdLst/>
            <a:ahLst/>
            <a:cxnLst/>
            <a:rect l="l" t="t" r="r" b="b"/>
            <a:pathLst>
              <a:path w="682244" h="0">
                <a:moveTo>
                  <a:pt x="0" y="0"/>
                </a:moveTo>
                <a:lnTo>
                  <a:pt x="682244" y="0"/>
                </a:lnTo>
              </a:path>
            </a:pathLst>
          </a:custGeom>
          <a:noFill/>
          <a:ln w="25400" cap="rnd">
            <a:solidFill>
              <a:srgbClr val="0F3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8607044" y="2487422"/>
            <a:ext cx="105156" cy="105156"/>
          </a:xfrm>
          <a:custGeom>
            <a:avLst/>
            <a:gdLst/>
            <a:ahLst/>
            <a:cxnLst/>
            <a:rect l="l" t="t" r="r" b="b"/>
            <a:pathLst>
              <a:path w="105156" h="105156">
                <a:moveTo>
                  <a:pt x="105156" y="52578"/>
                </a:moveTo>
                <a:lnTo>
                  <a:pt x="0" y="105156"/>
                </a:lnTo>
                <a:lnTo>
                  <a:pt x="0" y="0"/>
                </a:lnTo>
                <a:close/>
              </a:path>
            </a:pathLst>
          </a:cu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0500" y="2209800"/>
            <a:ext cx="1016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好氧反硝化</a:t>
            </a:r>
          </a:p>
        </p:txBody>
      </p:sp>
      <p:sp>
        <p:nvSpPr>
          <p:cNvPr id="41" name="Freeform 40"/>
          <p:cNvSpPr/>
          <p:nvPr/>
        </p:nvSpPr>
        <p:spPr>
          <a:xfrm>
            <a:off x="7035800" y="2946400"/>
            <a:ext cx="0" cy="287528"/>
          </a:xfrm>
          <a:custGeom>
            <a:avLst/>
            <a:gdLst/>
            <a:ahLst/>
            <a:cxnLst/>
            <a:rect l="l" t="t" r="r" b="b"/>
            <a:pathLst>
              <a:path w="0" h="287528">
                <a:moveTo>
                  <a:pt x="0" y="0"/>
                </a:moveTo>
                <a:lnTo>
                  <a:pt x="0" y="287528"/>
                </a:lnTo>
              </a:path>
            </a:pathLst>
          </a:custGeom>
          <a:noFill/>
          <a:ln w="22860" cap="rnd">
            <a:solidFill>
              <a:srgbClr val="2E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6989064" y="3233928"/>
            <a:ext cx="93472" cy="93472"/>
          </a:xfrm>
          <a:custGeom>
            <a:avLst/>
            <a:gdLst/>
            <a:ahLst/>
            <a:cxnLst/>
            <a:rect l="l" t="t" r="r" b="b"/>
            <a:pathLst>
              <a:path w="93472" h="93472">
                <a:moveTo>
                  <a:pt x="46736" y="93472"/>
                </a:moveTo>
                <a:lnTo>
                  <a:pt x="0" y="0"/>
                </a:lnTo>
                <a:lnTo>
                  <a:pt x="93472" y="0"/>
                </a:lnTo>
                <a:close/>
              </a:path>
            </a:pathLst>
          </a:custGeom>
          <a:solidFill>
            <a:srgbClr val="2E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740400" y="3352800"/>
            <a:ext cx="2590800" cy="381000"/>
          </a:xfrm>
          <a:prstGeom prst="roundRect">
            <a:avLst>
              <a:gd name="adj" fmla="val 50000"/>
            </a:avLst>
          </a:prstGeom>
          <a:solidFill>
            <a:srgbClr val="E8F5ED"/>
          </a:solidFill>
          <a:ln w="12700">
            <a:solidFill>
              <a:srgbClr val="2E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40400" y="3352800"/>
            <a:ext cx="2590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2E9A5B"/>
                </a:solidFill>
                <a:latin typeface="Arial"/>
                <a:ea typeface="Microsoft YaHei"/>
                <a:cs typeface="Arial"/>
              </a:rPr>
              <a:t>转化为稳定硝酸盐 · 保留堆体（保氮）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9600" y="4089400"/>
            <a:ext cx="3505200" cy="18796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09600" y="4142740"/>
            <a:ext cx="50800" cy="1772920"/>
          </a:xfrm>
          <a:prstGeom prst="roundRect">
            <a:avLst>
              <a:gd name="adj" fmla="val 50000"/>
            </a:avLst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352800" y="4267200"/>
            <a:ext cx="558800" cy="558800"/>
          </a:xfrm>
          <a:prstGeom prst="roundRect">
            <a:avLst>
              <a:gd name="adj" fmla="val 27272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93516" y="4407916"/>
            <a:ext cx="277368" cy="277368"/>
          </a:xfrm>
          <a:prstGeom prst="ellipse">
            <a:avLst/>
          </a:prstGeom>
          <a:noFill/>
          <a:ln w="20320">
            <a:solidFill>
              <a:srgbClr val="0F3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552952" y="4467352"/>
            <a:ext cx="158496" cy="158496"/>
          </a:xfrm>
          <a:prstGeom prst="ellipse">
            <a:avLst/>
          </a:prstGeom>
          <a:noFill/>
          <a:ln w="17780">
            <a:solidFill>
              <a:srgbClr val="0F3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609086" y="4523486"/>
            <a:ext cx="46228" cy="46228"/>
          </a:xfrm>
          <a:prstGeom prst="ellipse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3600" y="43180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特性</a:t>
            </a:r>
          </a:p>
        </p:txBody>
      </p:sp>
      <p:sp>
        <p:nvSpPr>
          <p:cNvPr id="52" name="Freeform 51"/>
          <p:cNvSpPr/>
          <p:nvPr/>
        </p:nvSpPr>
        <p:spPr>
          <a:xfrm>
            <a:off x="863600" y="4673600"/>
            <a:ext cx="2997200" cy="0"/>
          </a:xfrm>
          <a:custGeom>
            <a:avLst/>
            <a:gdLst/>
            <a:ahLst/>
            <a:cxnLst/>
            <a:rect l="l" t="t" r="r" b="b"/>
            <a:pathLst>
              <a:path w="2997200" h="0">
                <a:moveTo>
                  <a:pt x="0" y="0"/>
                </a:moveTo>
                <a:lnTo>
                  <a:pt x="29972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3600" y="4775200"/>
            <a:ext cx="30226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6000"/>
              </a:lnSpc>
            </a:pPr>
            <a:r>
              <a:rPr sz="11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打破了氧气限制，能够在</a:t>
            </a:r>
            <a:r>
              <a:rPr sz="110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一个好氧体系内</a:t>
            </a:r>
            <a:r>
              <a:rPr sz="11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，利用有机碳源，同步完成“氨氧化 → 亚硝酸盐/硝酸盐 → 氮气”的全过程。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43400" y="4089400"/>
            <a:ext cx="3505200" cy="18796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343400" y="4142740"/>
            <a:ext cx="50800" cy="1772920"/>
          </a:xfrm>
          <a:prstGeom prst="roundRect">
            <a:avLst>
              <a:gd name="adj" fmla="val 50000"/>
            </a:avLst>
          </a:prstGeom>
          <a:solidFill>
            <a:srgbClr val="0B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086600" y="4267200"/>
            <a:ext cx="558800" cy="558800"/>
          </a:xfrm>
          <a:prstGeom prst="roundRect">
            <a:avLst>
              <a:gd name="adj" fmla="val 27272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7217410" y="4427728"/>
            <a:ext cx="250952" cy="52832"/>
          </a:xfrm>
          <a:custGeom>
            <a:avLst/>
            <a:gdLst/>
            <a:ahLst/>
            <a:cxnLst/>
            <a:rect l="l" t="t" r="r" b="b"/>
            <a:pathLst>
              <a:path w="250952" h="52832">
                <a:moveTo>
                  <a:pt x="0" y="33020"/>
                </a:moveTo>
                <a:lnTo>
                  <a:pt x="5655" y="31331"/>
                </a:lnTo>
                <a:lnTo>
                  <a:pt x="11753" y="29389"/>
                </a:lnTo>
                <a:lnTo>
                  <a:pt x="18244" y="27237"/>
                </a:lnTo>
                <a:lnTo>
                  <a:pt x="25077" y="24920"/>
                </a:lnTo>
                <a:lnTo>
                  <a:pt x="32203" y="22480"/>
                </a:lnTo>
                <a:lnTo>
                  <a:pt x="39571" y="19960"/>
                </a:lnTo>
                <a:lnTo>
                  <a:pt x="47131" y="17406"/>
                </a:lnTo>
                <a:lnTo>
                  <a:pt x="54834" y="14859"/>
                </a:lnTo>
                <a:lnTo>
                  <a:pt x="62629" y="12364"/>
                </a:lnTo>
                <a:lnTo>
                  <a:pt x="70466" y="9964"/>
                </a:lnTo>
                <a:lnTo>
                  <a:pt x="78295" y="7703"/>
                </a:lnTo>
                <a:lnTo>
                  <a:pt x="86066" y="5624"/>
                </a:lnTo>
                <a:lnTo>
                  <a:pt x="93729" y="3770"/>
                </a:lnTo>
                <a:lnTo>
                  <a:pt x="101234" y="2186"/>
                </a:lnTo>
                <a:lnTo>
                  <a:pt x="108531" y="915"/>
                </a:lnTo>
                <a:lnTo>
                  <a:pt x="115570" y="0"/>
                </a:lnTo>
                <a:lnTo>
                  <a:pt x="121812" y="2190"/>
                </a:lnTo>
                <a:lnTo>
                  <a:pt x="128063" y="4798"/>
                </a:lnTo>
                <a:lnTo>
                  <a:pt x="134313" y="7768"/>
                </a:lnTo>
                <a:lnTo>
                  <a:pt x="140549" y="11041"/>
                </a:lnTo>
                <a:lnTo>
                  <a:pt x="146760" y="14559"/>
                </a:lnTo>
                <a:lnTo>
                  <a:pt x="152933" y="18264"/>
                </a:lnTo>
                <a:lnTo>
                  <a:pt x="159057" y="22098"/>
                </a:lnTo>
                <a:lnTo>
                  <a:pt x="165121" y="26003"/>
                </a:lnTo>
                <a:lnTo>
                  <a:pt x="171111" y="29921"/>
                </a:lnTo>
                <a:lnTo>
                  <a:pt x="177017" y="33794"/>
                </a:lnTo>
                <a:lnTo>
                  <a:pt x="182826" y="37563"/>
                </a:lnTo>
                <a:lnTo>
                  <a:pt x="188526" y="41172"/>
                </a:lnTo>
                <a:lnTo>
                  <a:pt x="194106" y="44561"/>
                </a:lnTo>
                <a:lnTo>
                  <a:pt x="199555" y="47673"/>
                </a:lnTo>
                <a:lnTo>
                  <a:pt x="204859" y="50449"/>
                </a:lnTo>
                <a:lnTo>
                  <a:pt x="210007" y="52832"/>
                </a:lnTo>
                <a:lnTo>
                  <a:pt x="213338" y="52573"/>
                </a:lnTo>
                <a:lnTo>
                  <a:pt x="216545" y="52026"/>
                </a:lnTo>
                <a:lnTo>
                  <a:pt x="219632" y="51224"/>
                </a:lnTo>
                <a:lnTo>
                  <a:pt x="222604" y="50201"/>
                </a:lnTo>
                <a:lnTo>
                  <a:pt x="225465" y="48991"/>
                </a:lnTo>
                <a:lnTo>
                  <a:pt x="228220" y="47627"/>
                </a:lnTo>
                <a:lnTo>
                  <a:pt x="230874" y="46145"/>
                </a:lnTo>
                <a:lnTo>
                  <a:pt x="233431" y="44577"/>
                </a:lnTo>
                <a:lnTo>
                  <a:pt x="235895" y="42957"/>
                </a:lnTo>
                <a:lnTo>
                  <a:pt x="238273" y="41320"/>
                </a:lnTo>
                <a:lnTo>
                  <a:pt x="240567" y="39699"/>
                </a:lnTo>
                <a:lnTo>
                  <a:pt x="242782" y="38128"/>
                </a:lnTo>
                <a:lnTo>
                  <a:pt x="244924" y="36640"/>
                </a:lnTo>
                <a:lnTo>
                  <a:pt x="246996" y="35271"/>
                </a:lnTo>
                <a:lnTo>
                  <a:pt x="249004" y="34053"/>
                </a:lnTo>
                <a:lnTo>
                  <a:pt x="250952" y="33020"/>
                </a:lnTo>
              </a:path>
            </a:pathLst>
          </a:custGeom>
          <a:noFill/>
          <a:ln w="20320" cap="rnd">
            <a:solidFill>
              <a:srgbClr val="0B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7217410" y="4513580"/>
            <a:ext cx="290576" cy="52832"/>
          </a:xfrm>
          <a:custGeom>
            <a:avLst/>
            <a:gdLst/>
            <a:ahLst/>
            <a:cxnLst/>
            <a:rect l="l" t="t" r="r" b="b"/>
            <a:pathLst>
              <a:path w="290576" h="52832">
                <a:moveTo>
                  <a:pt x="0" y="33020"/>
                </a:moveTo>
                <a:lnTo>
                  <a:pt x="5634" y="31331"/>
                </a:lnTo>
                <a:lnTo>
                  <a:pt x="11672" y="29389"/>
                </a:lnTo>
                <a:lnTo>
                  <a:pt x="18074" y="27237"/>
                </a:lnTo>
                <a:lnTo>
                  <a:pt x="24799" y="24920"/>
                </a:lnTo>
                <a:lnTo>
                  <a:pt x="31804" y="22480"/>
                </a:lnTo>
                <a:lnTo>
                  <a:pt x="39048" y="19960"/>
                </a:lnTo>
                <a:lnTo>
                  <a:pt x="46491" y="17406"/>
                </a:lnTo>
                <a:lnTo>
                  <a:pt x="54091" y="14859"/>
                </a:lnTo>
                <a:lnTo>
                  <a:pt x="61806" y="12364"/>
                </a:lnTo>
                <a:lnTo>
                  <a:pt x="69595" y="9964"/>
                </a:lnTo>
                <a:lnTo>
                  <a:pt x="77417" y="7703"/>
                </a:lnTo>
                <a:lnTo>
                  <a:pt x="85230" y="5624"/>
                </a:lnTo>
                <a:lnTo>
                  <a:pt x="92994" y="3770"/>
                </a:lnTo>
                <a:lnTo>
                  <a:pt x="100666" y="2186"/>
                </a:lnTo>
                <a:lnTo>
                  <a:pt x="108205" y="915"/>
                </a:lnTo>
                <a:lnTo>
                  <a:pt x="115570" y="0"/>
                </a:lnTo>
                <a:lnTo>
                  <a:pt x="122978" y="2190"/>
                </a:lnTo>
                <a:lnTo>
                  <a:pt x="130493" y="4798"/>
                </a:lnTo>
                <a:lnTo>
                  <a:pt x="138092" y="7768"/>
                </a:lnTo>
                <a:lnTo>
                  <a:pt x="145750" y="11041"/>
                </a:lnTo>
                <a:lnTo>
                  <a:pt x="153444" y="14559"/>
                </a:lnTo>
                <a:lnTo>
                  <a:pt x="161152" y="18264"/>
                </a:lnTo>
                <a:lnTo>
                  <a:pt x="168849" y="22098"/>
                </a:lnTo>
                <a:lnTo>
                  <a:pt x="176513" y="26003"/>
                </a:lnTo>
                <a:lnTo>
                  <a:pt x="184118" y="29921"/>
                </a:lnTo>
                <a:lnTo>
                  <a:pt x="191643" y="33794"/>
                </a:lnTo>
                <a:lnTo>
                  <a:pt x="199064" y="37563"/>
                </a:lnTo>
                <a:lnTo>
                  <a:pt x="206357" y="41172"/>
                </a:lnTo>
                <a:lnTo>
                  <a:pt x="213499" y="44561"/>
                </a:lnTo>
                <a:lnTo>
                  <a:pt x="220466" y="47673"/>
                </a:lnTo>
                <a:lnTo>
                  <a:pt x="227234" y="50449"/>
                </a:lnTo>
                <a:lnTo>
                  <a:pt x="233782" y="52832"/>
                </a:lnTo>
                <a:lnTo>
                  <a:pt x="238227" y="52573"/>
                </a:lnTo>
                <a:lnTo>
                  <a:pt x="242544" y="52026"/>
                </a:lnTo>
                <a:lnTo>
                  <a:pt x="246737" y="51224"/>
                </a:lnTo>
                <a:lnTo>
                  <a:pt x="250805" y="50201"/>
                </a:lnTo>
                <a:lnTo>
                  <a:pt x="254751" y="48991"/>
                </a:lnTo>
                <a:lnTo>
                  <a:pt x="258577" y="47627"/>
                </a:lnTo>
                <a:lnTo>
                  <a:pt x="262283" y="46145"/>
                </a:lnTo>
                <a:lnTo>
                  <a:pt x="265873" y="44577"/>
                </a:lnTo>
                <a:lnTo>
                  <a:pt x="269347" y="42957"/>
                </a:lnTo>
                <a:lnTo>
                  <a:pt x="272707" y="41320"/>
                </a:lnTo>
                <a:lnTo>
                  <a:pt x="275956" y="39699"/>
                </a:lnTo>
                <a:lnTo>
                  <a:pt x="279094" y="38128"/>
                </a:lnTo>
                <a:lnTo>
                  <a:pt x="282123" y="36640"/>
                </a:lnTo>
                <a:lnTo>
                  <a:pt x="285045" y="35271"/>
                </a:lnTo>
                <a:lnTo>
                  <a:pt x="287863" y="34053"/>
                </a:lnTo>
                <a:lnTo>
                  <a:pt x="290576" y="33020"/>
                </a:lnTo>
              </a:path>
            </a:pathLst>
          </a:custGeom>
          <a:noFill/>
          <a:ln w="20320" cap="rnd">
            <a:solidFill>
              <a:srgbClr val="0B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217410" y="4599432"/>
            <a:ext cx="231140" cy="52832"/>
          </a:xfrm>
          <a:custGeom>
            <a:avLst/>
            <a:gdLst/>
            <a:ahLst/>
            <a:cxnLst/>
            <a:rect l="l" t="t" r="r" b="b"/>
            <a:pathLst>
              <a:path w="231140" h="52832">
                <a:moveTo>
                  <a:pt x="0" y="33020"/>
                </a:moveTo>
                <a:lnTo>
                  <a:pt x="5666" y="31331"/>
                </a:lnTo>
                <a:lnTo>
                  <a:pt x="11794" y="29389"/>
                </a:lnTo>
                <a:lnTo>
                  <a:pt x="18329" y="27237"/>
                </a:lnTo>
                <a:lnTo>
                  <a:pt x="25216" y="24920"/>
                </a:lnTo>
                <a:lnTo>
                  <a:pt x="32402" y="22480"/>
                </a:lnTo>
                <a:lnTo>
                  <a:pt x="39832" y="19960"/>
                </a:lnTo>
                <a:lnTo>
                  <a:pt x="47451" y="17406"/>
                </a:lnTo>
                <a:lnTo>
                  <a:pt x="55205" y="14859"/>
                </a:lnTo>
                <a:lnTo>
                  <a:pt x="63040" y="12364"/>
                </a:lnTo>
                <a:lnTo>
                  <a:pt x="70901" y="9964"/>
                </a:lnTo>
                <a:lnTo>
                  <a:pt x="78734" y="7703"/>
                </a:lnTo>
                <a:lnTo>
                  <a:pt x="86484" y="5624"/>
                </a:lnTo>
                <a:lnTo>
                  <a:pt x="94097" y="3770"/>
                </a:lnTo>
                <a:lnTo>
                  <a:pt x="101519" y="2186"/>
                </a:lnTo>
                <a:lnTo>
                  <a:pt x="108695" y="915"/>
                </a:lnTo>
                <a:lnTo>
                  <a:pt x="115570" y="0"/>
                </a:lnTo>
                <a:lnTo>
                  <a:pt x="121228" y="2190"/>
                </a:lnTo>
                <a:lnTo>
                  <a:pt x="126848" y="4798"/>
                </a:lnTo>
                <a:lnTo>
                  <a:pt x="132424" y="7768"/>
                </a:lnTo>
                <a:lnTo>
                  <a:pt x="137949" y="11041"/>
                </a:lnTo>
                <a:lnTo>
                  <a:pt x="143418" y="14559"/>
                </a:lnTo>
                <a:lnTo>
                  <a:pt x="148824" y="18264"/>
                </a:lnTo>
                <a:lnTo>
                  <a:pt x="154162" y="22098"/>
                </a:lnTo>
                <a:lnTo>
                  <a:pt x="159425" y="26003"/>
                </a:lnTo>
                <a:lnTo>
                  <a:pt x="164607" y="29921"/>
                </a:lnTo>
                <a:lnTo>
                  <a:pt x="169703" y="33794"/>
                </a:lnTo>
                <a:lnTo>
                  <a:pt x="174706" y="37563"/>
                </a:lnTo>
                <a:lnTo>
                  <a:pt x="179611" y="41172"/>
                </a:lnTo>
                <a:lnTo>
                  <a:pt x="184410" y="44561"/>
                </a:lnTo>
                <a:lnTo>
                  <a:pt x="189099" y="47673"/>
                </a:lnTo>
                <a:lnTo>
                  <a:pt x="193671" y="50449"/>
                </a:lnTo>
                <a:lnTo>
                  <a:pt x="198120" y="52832"/>
                </a:lnTo>
                <a:lnTo>
                  <a:pt x="200894" y="52573"/>
                </a:lnTo>
                <a:lnTo>
                  <a:pt x="203545" y="52026"/>
                </a:lnTo>
                <a:lnTo>
                  <a:pt x="206080" y="51224"/>
                </a:lnTo>
                <a:lnTo>
                  <a:pt x="208503" y="50201"/>
                </a:lnTo>
                <a:lnTo>
                  <a:pt x="210822" y="48991"/>
                </a:lnTo>
                <a:lnTo>
                  <a:pt x="213042" y="47627"/>
                </a:lnTo>
                <a:lnTo>
                  <a:pt x="215169" y="46145"/>
                </a:lnTo>
                <a:lnTo>
                  <a:pt x="217210" y="44577"/>
                </a:lnTo>
                <a:lnTo>
                  <a:pt x="219170" y="42957"/>
                </a:lnTo>
                <a:lnTo>
                  <a:pt x="221055" y="41320"/>
                </a:lnTo>
                <a:lnTo>
                  <a:pt x="222872" y="39699"/>
                </a:lnTo>
                <a:lnTo>
                  <a:pt x="224626" y="38128"/>
                </a:lnTo>
                <a:lnTo>
                  <a:pt x="226324" y="36640"/>
                </a:lnTo>
                <a:lnTo>
                  <a:pt x="227972" y="35271"/>
                </a:lnTo>
                <a:lnTo>
                  <a:pt x="229575" y="34053"/>
                </a:lnTo>
                <a:lnTo>
                  <a:pt x="231140" y="33020"/>
                </a:lnTo>
              </a:path>
            </a:pathLst>
          </a:custGeom>
          <a:noFill/>
          <a:ln w="20320" cap="rnd">
            <a:solidFill>
              <a:srgbClr val="0B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97400" y="43180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应用契合度</a:t>
            </a:r>
          </a:p>
        </p:txBody>
      </p:sp>
      <p:sp>
        <p:nvSpPr>
          <p:cNvPr id="61" name="Freeform 60"/>
          <p:cNvSpPr/>
          <p:nvPr/>
        </p:nvSpPr>
        <p:spPr>
          <a:xfrm>
            <a:off x="4597400" y="4673600"/>
            <a:ext cx="2997200" cy="0"/>
          </a:xfrm>
          <a:custGeom>
            <a:avLst/>
            <a:gdLst/>
            <a:ahLst/>
            <a:cxnLst/>
            <a:rect l="l" t="t" r="r" b="b"/>
            <a:pathLst>
              <a:path w="2997200" h="0">
                <a:moveTo>
                  <a:pt x="0" y="0"/>
                </a:moveTo>
                <a:lnTo>
                  <a:pt x="29972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97400" y="4775200"/>
            <a:ext cx="30226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6000"/>
              </a:lnSpc>
            </a:pPr>
            <a:r>
              <a:rPr sz="11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完美契合堆肥的</a:t>
            </a:r>
            <a:r>
              <a:rPr sz="110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强制通风环境</a:t>
            </a:r>
            <a:r>
              <a:rPr sz="11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77200" y="4089400"/>
            <a:ext cx="3505200" cy="18796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077200" y="4142740"/>
            <a:ext cx="50800" cy="1772920"/>
          </a:xfrm>
          <a:prstGeom prst="roundRect">
            <a:avLst>
              <a:gd name="adj" fmla="val 50000"/>
            </a:avLst>
          </a:prstGeom>
          <a:solidFill>
            <a:srgbClr val="2E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820400" y="4267200"/>
            <a:ext cx="558800" cy="558800"/>
          </a:xfrm>
          <a:prstGeom prst="roundRect">
            <a:avLst>
              <a:gd name="adj" fmla="val 27272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0974324" y="4394708"/>
            <a:ext cx="257556" cy="277368"/>
          </a:xfrm>
          <a:custGeom>
            <a:avLst/>
            <a:gdLst/>
            <a:ahLst/>
            <a:cxnLst/>
            <a:rect l="l" t="t" r="r" b="b"/>
            <a:pathLst>
              <a:path w="257556" h="277368">
                <a:moveTo>
                  <a:pt x="0" y="277368"/>
                </a:moveTo>
                <a:lnTo>
                  <a:pt x="523" y="266595"/>
                </a:lnTo>
                <a:lnTo>
                  <a:pt x="884" y="254799"/>
                </a:lnTo>
                <a:lnTo>
                  <a:pt x="1125" y="242118"/>
                </a:lnTo>
                <a:lnTo>
                  <a:pt x="1290" y="228689"/>
                </a:lnTo>
                <a:lnTo>
                  <a:pt x="1423" y="214651"/>
                </a:lnTo>
                <a:lnTo>
                  <a:pt x="1567" y="200142"/>
                </a:lnTo>
                <a:lnTo>
                  <a:pt x="1766" y="185299"/>
                </a:lnTo>
                <a:lnTo>
                  <a:pt x="2064" y="170259"/>
                </a:lnTo>
                <a:lnTo>
                  <a:pt x="2503" y="155162"/>
                </a:lnTo>
                <a:lnTo>
                  <a:pt x="3128" y="140145"/>
                </a:lnTo>
                <a:lnTo>
                  <a:pt x="3982" y="125345"/>
                </a:lnTo>
                <a:lnTo>
                  <a:pt x="5108" y="110901"/>
                </a:lnTo>
                <a:lnTo>
                  <a:pt x="6550" y="96950"/>
                </a:lnTo>
                <a:lnTo>
                  <a:pt x="8352" y="83630"/>
                </a:lnTo>
                <a:lnTo>
                  <a:pt x="10557" y="71080"/>
                </a:lnTo>
                <a:lnTo>
                  <a:pt x="13208" y="59436"/>
                </a:lnTo>
                <a:lnTo>
                  <a:pt x="20517" y="53472"/>
                </a:lnTo>
                <a:lnTo>
                  <a:pt x="28367" y="47943"/>
                </a:lnTo>
                <a:lnTo>
                  <a:pt x="36692" y="42821"/>
                </a:lnTo>
                <a:lnTo>
                  <a:pt x="45428" y="38076"/>
                </a:lnTo>
                <a:lnTo>
                  <a:pt x="54509" y="33679"/>
                </a:lnTo>
                <a:lnTo>
                  <a:pt x="63870" y="29602"/>
                </a:lnTo>
                <a:lnTo>
                  <a:pt x="73445" y="25815"/>
                </a:lnTo>
                <a:lnTo>
                  <a:pt x="83169" y="22288"/>
                </a:lnTo>
                <a:lnTo>
                  <a:pt x="92977" y="18995"/>
                </a:lnTo>
                <a:lnTo>
                  <a:pt x="102804" y="15904"/>
                </a:lnTo>
                <a:lnTo>
                  <a:pt x="112584" y="12987"/>
                </a:lnTo>
                <a:lnTo>
                  <a:pt x="122251" y="10216"/>
                </a:lnTo>
                <a:lnTo>
                  <a:pt x="131742" y="7560"/>
                </a:lnTo>
                <a:lnTo>
                  <a:pt x="140990" y="4992"/>
                </a:lnTo>
                <a:lnTo>
                  <a:pt x="149929" y="2481"/>
                </a:lnTo>
                <a:lnTo>
                  <a:pt x="158496" y="0"/>
                </a:lnTo>
                <a:lnTo>
                  <a:pt x="165413" y="168"/>
                </a:lnTo>
                <a:lnTo>
                  <a:pt x="172323" y="648"/>
                </a:lnTo>
                <a:lnTo>
                  <a:pt x="179208" y="1404"/>
                </a:lnTo>
                <a:lnTo>
                  <a:pt x="186047" y="2399"/>
                </a:lnTo>
                <a:lnTo>
                  <a:pt x="192822" y="3597"/>
                </a:lnTo>
                <a:lnTo>
                  <a:pt x="199513" y="4963"/>
                </a:lnTo>
                <a:lnTo>
                  <a:pt x="206101" y="6458"/>
                </a:lnTo>
                <a:lnTo>
                  <a:pt x="212566" y="8049"/>
                </a:lnTo>
                <a:lnTo>
                  <a:pt x="218890" y="9697"/>
                </a:lnTo>
                <a:lnTo>
                  <a:pt x="225052" y="11367"/>
                </a:lnTo>
                <a:lnTo>
                  <a:pt x="231034" y="13022"/>
                </a:lnTo>
                <a:lnTo>
                  <a:pt x="236815" y="14627"/>
                </a:lnTo>
                <a:lnTo>
                  <a:pt x="242378" y="16144"/>
                </a:lnTo>
                <a:lnTo>
                  <a:pt x="247702" y="17539"/>
                </a:lnTo>
                <a:lnTo>
                  <a:pt x="252767" y="18773"/>
                </a:lnTo>
                <a:lnTo>
                  <a:pt x="257556" y="19812"/>
                </a:lnTo>
              </a:path>
            </a:pathLst>
          </a:custGeom>
          <a:noFill/>
          <a:ln w="21590" cap="rnd">
            <a:solidFill>
              <a:srgbClr val="2E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0974324" y="4414520"/>
            <a:ext cx="257556" cy="271438"/>
          </a:xfrm>
          <a:custGeom>
            <a:avLst/>
            <a:gdLst/>
            <a:ahLst/>
            <a:cxnLst/>
            <a:rect l="l" t="t" r="r" b="b"/>
            <a:pathLst>
              <a:path w="257556" h="271438">
                <a:moveTo>
                  <a:pt x="257556" y="0"/>
                </a:moveTo>
                <a:lnTo>
                  <a:pt x="257015" y="9108"/>
                </a:lnTo>
                <a:lnTo>
                  <a:pt x="256605" y="19028"/>
                </a:lnTo>
                <a:lnTo>
                  <a:pt x="256290" y="29656"/>
                </a:lnTo>
                <a:lnTo>
                  <a:pt x="256034" y="40888"/>
                </a:lnTo>
                <a:lnTo>
                  <a:pt x="255801" y="52620"/>
                </a:lnTo>
                <a:lnTo>
                  <a:pt x="255554" y="64747"/>
                </a:lnTo>
                <a:lnTo>
                  <a:pt x="255256" y="77166"/>
                </a:lnTo>
                <a:lnTo>
                  <a:pt x="254873" y="89773"/>
                </a:lnTo>
                <a:lnTo>
                  <a:pt x="254367" y="102464"/>
                </a:lnTo>
                <a:lnTo>
                  <a:pt x="253703" y="115135"/>
                </a:lnTo>
                <a:lnTo>
                  <a:pt x="252843" y="127681"/>
                </a:lnTo>
                <a:lnTo>
                  <a:pt x="251752" y="140000"/>
                </a:lnTo>
                <a:lnTo>
                  <a:pt x="250393" y="151986"/>
                </a:lnTo>
                <a:lnTo>
                  <a:pt x="248730" y="163536"/>
                </a:lnTo>
                <a:lnTo>
                  <a:pt x="246727" y="174546"/>
                </a:lnTo>
                <a:lnTo>
                  <a:pt x="244348" y="184912"/>
                </a:lnTo>
                <a:lnTo>
                  <a:pt x="238041" y="191729"/>
                </a:lnTo>
                <a:lnTo>
                  <a:pt x="231327" y="198352"/>
                </a:lnTo>
                <a:lnTo>
                  <a:pt x="224248" y="204782"/>
                </a:lnTo>
                <a:lnTo>
                  <a:pt x="216849" y="211018"/>
                </a:lnTo>
                <a:lnTo>
                  <a:pt x="209172" y="217061"/>
                </a:lnTo>
                <a:lnTo>
                  <a:pt x="201261" y="222911"/>
                </a:lnTo>
                <a:lnTo>
                  <a:pt x="193160" y="228567"/>
                </a:lnTo>
                <a:lnTo>
                  <a:pt x="184912" y="234029"/>
                </a:lnTo>
                <a:lnTo>
                  <a:pt x="176561" y="239298"/>
                </a:lnTo>
                <a:lnTo>
                  <a:pt x="168150" y="244374"/>
                </a:lnTo>
                <a:lnTo>
                  <a:pt x="159724" y="249256"/>
                </a:lnTo>
                <a:lnTo>
                  <a:pt x="151324" y="253944"/>
                </a:lnTo>
                <a:lnTo>
                  <a:pt x="142996" y="258440"/>
                </a:lnTo>
                <a:lnTo>
                  <a:pt x="134782" y="262741"/>
                </a:lnTo>
                <a:lnTo>
                  <a:pt x="126726" y="266849"/>
                </a:lnTo>
                <a:lnTo>
                  <a:pt x="118872" y="270764"/>
                </a:lnTo>
                <a:lnTo>
                  <a:pt x="111243" y="271287"/>
                </a:lnTo>
                <a:lnTo>
                  <a:pt x="103449" y="271438"/>
                </a:lnTo>
                <a:lnTo>
                  <a:pt x="95530" y="271259"/>
                </a:lnTo>
                <a:lnTo>
                  <a:pt x="87529" y="270790"/>
                </a:lnTo>
                <a:lnTo>
                  <a:pt x="79485" y="270073"/>
                </a:lnTo>
                <a:lnTo>
                  <a:pt x="71441" y="269148"/>
                </a:lnTo>
                <a:lnTo>
                  <a:pt x="63437" y="268058"/>
                </a:lnTo>
                <a:lnTo>
                  <a:pt x="55515" y="266843"/>
                </a:lnTo>
                <a:lnTo>
                  <a:pt x="47715" y="265544"/>
                </a:lnTo>
                <a:lnTo>
                  <a:pt x="40079" y="264202"/>
                </a:lnTo>
                <a:lnTo>
                  <a:pt x="32647" y="262858"/>
                </a:lnTo>
                <a:lnTo>
                  <a:pt x="25462" y="261555"/>
                </a:lnTo>
                <a:lnTo>
                  <a:pt x="18563" y="260331"/>
                </a:lnTo>
                <a:lnTo>
                  <a:pt x="11992" y="259230"/>
                </a:lnTo>
                <a:lnTo>
                  <a:pt x="5791" y="258291"/>
                </a:lnTo>
                <a:lnTo>
                  <a:pt x="0" y="257556"/>
                </a:lnTo>
              </a:path>
            </a:pathLst>
          </a:custGeom>
          <a:noFill/>
          <a:ln w="21590" cap="rnd">
            <a:solidFill>
              <a:srgbClr val="2E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1000740" y="4454144"/>
            <a:ext cx="191516" cy="191516"/>
          </a:xfrm>
          <a:custGeom>
            <a:avLst/>
            <a:gdLst/>
            <a:ahLst/>
            <a:cxnLst/>
            <a:rect l="l" t="t" r="r" b="b"/>
            <a:pathLst>
              <a:path w="191516" h="191516">
                <a:moveTo>
                  <a:pt x="0" y="191516"/>
                </a:moveTo>
                <a:lnTo>
                  <a:pt x="191516" y="0"/>
                </a:lnTo>
              </a:path>
            </a:pathLst>
          </a:custGeom>
          <a:noFill/>
          <a:ln w="15240" cap="flat">
            <a:solidFill>
              <a:srgbClr val="2E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31200" y="43180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终极目标</a:t>
            </a:r>
          </a:p>
        </p:txBody>
      </p:sp>
      <p:sp>
        <p:nvSpPr>
          <p:cNvPr id="70" name="Freeform 69"/>
          <p:cNvSpPr/>
          <p:nvPr/>
        </p:nvSpPr>
        <p:spPr>
          <a:xfrm>
            <a:off x="8331200" y="4673600"/>
            <a:ext cx="2997200" cy="0"/>
          </a:xfrm>
          <a:custGeom>
            <a:avLst/>
            <a:gdLst/>
            <a:ahLst/>
            <a:cxnLst/>
            <a:rect l="l" t="t" r="r" b="b"/>
            <a:pathLst>
              <a:path w="2997200" h="0">
                <a:moveTo>
                  <a:pt x="0" y="0"/>
                </a:moveTo>
                <a:lnTo>
                  <a:pt x="29972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31200" y="4775200"/>
            <a:ext cx="30226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6000"/>
              </a:lnSpc>
            </a:pPr>
            <a:r>
              <a:rPr sz="11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利用此类好氧菌，将易挥发发臭的氨氮，转化为</a:t>
            </a:r>
            <a:r>
              <a:rPr sz="1100" b="1" i="0">
                <a:solidFill>
                  <a:srgbClr val="1C5590"/>
                </a:solidFill>
                <a:latin typeface="Arial"/>
                <a:ea typeface="Microsoft YaHei"/>
                <a:cs typeface="Arial"/>
              </a:rPr>
              <a:t>无害的氮气排出</a:t>
            </a:r>
            <a:r>
              <a:rPr sz="11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，或转化为</a:t>
            </a:r>
            <a:r>
              <a:rPr sz="1100" b="1" i="0">
                <a:solidFill>
                  <a:srgbClr val="2E9A5B"/>
                </a:solidFill>
                <a:latin typeface="Arial"/>
                <a:ea typeface="Microsoft YaHei"/>
                <a:cs typeface="Arial"/>
              </a:rPr>
              <a:t>稳定的硝酸盐保留在堆体中（保氮）</a:t>
            </a:r>
            <a:r>
              <a:rPr sz="11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2A08C"/>
                </a:solidFill>
                <a:latin typeface="Arial"/>
                <a:ea typeface="Microsoft YaHei"/>
                <a:cs typeface="Arial"/>
              </a:rPr>
              <a:t>PART 02 · 当前试验流程与进展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08000"/>
            <a:ext cx="9906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整体研究策略 —— 漏斗式降维筛选法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990600"/>
            <a:ext cx="533400" cy="44450"/>
          </a:xfrm>
          <a:prstGeom prst="rect">
            <a:avLst/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800" y="990600"/>
            <a:ext cx="254000" cy="44450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9600" y="119380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 h="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2700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9600" y="645160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 h="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278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高效好氧降氨菌的筛选、机制解析及其在堆肥减排保氮中的应用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6527800"/>
            <a:ext cx="2184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06 / 10</a:t>
            </a:r>
          </a:p>
        </p:txBody>
      </p:sp>
      <p:sp>
        <p:nvSpPr>
          <p:cNvPr id="10" name="Freeform 9"/>
          <p:cNvSpPr/>
          <p:nvPr/>
        </p:nvSpPr>
        <p:spPr>
          <a:xfrm>
            <a:off x="609600" y="1473200"/>
            <a:ext cx="4572000" cy="990600"/>
          </a:xfrm>
          <a:custGeom>
            <a:avLst/>
            <a:gdLst/>
            <a:ahLst/>
            <a:cxnLst/>
            <a:rect l="l" t="t" r="r" b="b"/>
            <a:pathLst>
              <a:path w="4572000" h="990600">
                <a:moveTo>
                  <a:pt x="0" y="0"/>
                </a:moveTo>
                <a:lnTo>
                  <a:pt x="4572000" y="0"/>
                </a:lnTo>
                <a:lnTo>
                  <a:pt x="4140200" y="990600"/>
                </a:lnTo>
                <a:lnTo>
                  <a:pt x="431800" y="990600"/>
                </a:lnTo>
                <a:close/>
              </a:path>
            </a:pathLst>
          </a:cu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7600" y="1701800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第一阶段 · 初筛与富集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06600"/>
            <a:ext cx="3556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DCE8F2"/>
                </a:solidFill>
                <a:latin typeface="Arial"/>
                <a:ea typeface="Microsoft YaHei"/>
                <a:cs typeface="Arial"/>
              </a:rPr>
              <a:t>121 株候选菌</a:t>
            </a:r>
          </a:p>
        </p:txBody>
      </p:sp>
      <p:sp>
        <p:nvSpPr>
          <p:cNvPr id="13" name="Freeform 12"/>
          <p:cNvSpPr/>
          <p:nvPr/>
        </p:nvSpPr>
        <p:spPr>
          <a:xfrm>
            <a:off x="5257800" y="1968500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177800" y="0"/>
                </a:lnTo>
              </a:path>
            </a:pathLst>
          </a:custGeom>
          <a:noFill/>
          <a:ln w="12700" cap="flat">
            <a:solidFill>
              <a:srgbClr val="DCE4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73700" y="1924050"/>
            <a:ext cx="88900" cy="88900"/>
          </a:xfrm>
          <a:prstGeom prst="ellipse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0" y="15748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第一阶段｜初筛与富集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88000" y="1854200"/>
            <a:ext cx="512985" cy="211138"/>
          </a:xfrm>
          <a:prstGeom prst="roundRect">
            <a:avLst>
              <a:gd name="adj" fmla="val 50000"/>
            </a:avLst>
          </a:prstGeom>
          <a:solidFill>
            <a:srgbClr val="E8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8000" y="1854200"/>
            <a:ext cx="512985" cy="2111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2E9A5B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985" y="1803400"/>
            <a:ext cx="1524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121 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88000" y="2108200"/>
            <a:ext cx="5740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利用高氨氮胁迫（好氧摇床环境），成功获得 121 株高效耐受型好氧单菌株。</a:t>
            </a:r>
          </a:p>
        </p:txBody>
      </p:sp>
      <p:sp>
        <p:nvSpPr>
          <p:cNvPr id="20" name="Freeform 19"/>
          <p:cNvSpPr/>
          <p:nvPr/>
        </p:nvSpPr>
        <p:spPr>
          <a:xfrm>
            <a:off x="1041400" y="2590800"/>
            <a:ext cx="3708400" cy="990600"/>
          </a:xfrm>
          <a:custGeom>
            <a:avLst/>
            <a:gdLst/>
            <a:ahLst/>
            <a:cxnLst/>
            <a:rect l="l" t="t" r="r" b="b"/>
            <a:pathLst>
              <a:path w="3708400" h="990600">
                <a:moveTo>
                  <a:pt x="0" y="0"/>
                </a:moveTo>
                <a:lnTo>
                  <a:pt x="3708400" y="0"/>
                </a:lnTo>
                <a:lnTo>
                  <a:pt x="3302000" y="990600"/>
                </a:lnTo>
                <a:lnTo>
                  <a:pt x="406400" y="990600"/>
                </a:lnTo>
                <a:close/>
              </a:path>
            </a:pathLst>
          </a:custGeom>
          <a:solidFill>
            <a:srgbClr val="12A08C"/>
          </a:solidFill>
          <a:ln>
            <a:noFill/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77900" y="2527300"/>
            <a:ext cx="3835400" cy="1117600"/>
          </a:xfrm>
          <a:custGeom>
            <a:avLst/>
            <a:gdLst/>
            <a:ahLst/>
            <a:cxnLst/>
            <a:rect l="l" t="t" r="r" b="b"/>
            <a:pathLst>
              <a:path w="3835400" h="1117600">
                <a:moveTo>
                  <a:pt x="0" y="0"/>
                </a:moveTo>
                <a:lnTo>
                  <a:pt x="3835400" y="0"/>
                </a:lnTo>
                <a:lnTo>
                  <a:pt x="3429000" y="1117600"/>
                </a:lnTo>
                <a:lnTo>
                  <a:pt x="406400" y="1117600"/>
                </a:lnTo>
                <a:close/>
              </a:path>
            </a:pathLst>
          </a:custGeom>
          <a:noFill/>
          <a:ln w="20320">
            <a:solidFill>
              <a:srgbClr val="12A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7600" y="2819400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第二阶段 · 复筛与动力学评估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7600" y="3124200"/>
            <a:ext cx="3556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DCE8F2"/>
                </a:solidFill>
                <a:latin typeface="Arial"/>
                <a:ea typeface="Microsoft YaHei"/>
                <a:cs typeface="Arial"/>
              </a:rPr>
              <a:t>72h 动力学 · Top 3</a:t>
            </a:r>
          </a:p>
        </p:txBody>
      </p:sp>
      <p:sp>
        <p:nvSpPr>
          <p:cNvPr id="24" name="Freeform 23"/>
          <p:cNvSpPr/>
          <p:nvPr/>
        </p:nvSpPr>
        <p:spPr>
          <a:xfrm>
            <a:off x="4826000" y="3086100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 h="0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12700" cap="flat">
            <a:solidFill>
              <a:srgbClr val="DCE4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73700" y="3041650"/>
            <a:ext cx="88900" cy="88900"/>
          </a:xfrm>
          <a:prstGeom prst="ellipse">
            <a:avLst/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88000" y="26924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第二阶段｜复筛与动力学评估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88000" y="2971800"/>
            <a:ext cx="1273723" cy="211138"/>
          </a:xfrm>
          <a:prstGeom prst="roundRect">
            <a:avLst>
              <a:gd name="adj" fmla="val 50000"/>
            </a:avLst>
          </a:prstGeom>
          <a:solidFill>
            <a:srgbClr val="FC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8000" y="2971800"/>
            <a:ext cx="1273723" cy="2111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正在进行 · 本阶段重点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8723" y="2921000"/>
            <a:ext cx="1524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Top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88000" y="3225800"/>
            <a:ext cx="5740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开展 72h 动态除氮实验，锁定转化路径，精选 Top 3 核心菌株。</a:t>
            </a:r>
          </a:p>
        </p:txBody>
      </p:sp>
      <p:sp>
        <p:nvSpPr>
          <p:cNvPr id="31" name="Freeform 30"/>
          <p:cNvSpPr/>
          <p:nvPr/>
        </p:nvSpPr>
        <p:spPr>
          <a:xfrm>
            <a:off x="1447800" y="3708400"/>
            <a:ext cx="2895600" cy="990600"/>
          </a:xfrm>
          <a:custGeom>
            <a:avLst/>
            <a:gdLst/>
            <a:ahLst/>
            <a:cxnLst/>
            <a:rect l="l" t="t" r="r" b="b"/>
            <a:pathLst>
              <a:path w="2895600" h="990600">
                <a:moveTo>
                  <a:pt x="0" y="0"/>
                </a:moveTo>
                <a:lnTo>
                  <a:pt x="2895600" y="0"/>
                </a:lnTo>
                <a:lnTo>
                  <a:pt x="2514600" y="990600"/>
                </a:lnTo>
                <a:lnTo>
                  <a:pt x="381000" y="990600"/>
                </a:lnTo>
                <a:close/>
              </a:path>
            </a:pathLst>
          </a:custGeom>
          <a:solidFill>
            <a:srgbClr val="4E8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52600" y="38862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第三阶段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52600" y="41148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机制解析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2600" y="43688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EAF1F7"/>
                </a:solidFill>
                <a:latin typeface="Arial"/>
                <a:ea typeface="Microsoft YaHei"/>
                <a:cs typeface="Arial"/>
              </a:rPr>
              <a:t>基因组 + 酶活</a:t>
            </a:r>
          </a:p>
        </p:txBody>
      </p:sp>
      <p:sp>
        <p:nvSpPr>
          <p:cNvPr id="35" name="Freeform 34"/>
          <p:cNvSpPr/>
          <p:nvPr/>
        </p:nvSpPr>
        <p:spPr>
          <a:xfrm>
            <a:off x="4419600" y="4203700"/>
            <a:ext cx="1016000" cy="0"/>
          </a:xfrm>
          <a:custGeom>
            <a:avLst/>
            <a:gdLst/>
            <a:ahLst/>
            <a:cxnLst/>
            <a:rect l="l" t="t" r="r" b="b"/>
            <a:pathLst>
              <a:path w="1016000" h="0">
                <a:moveTo>
                  <a:pt x="0" y="0"/>
                </a:moveTo>
                <a:lnTo>
                  <a:pt x="1016000" y="0"/>
                </a:lnTo>
              </a:path>
            </a:pathLst>
          </a:custGeom>
          <a:noFill/>
          <a:ln w="12700" cap="flat">
            <a:solidFill>
              <a:srgbClr val="DCE4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73700" y="4159250"/>
            <a:ext cx="88900" cy="88900"/>
          </a:xfrm>
          <a:prstGeom prst="ellipse">
            <a:avLst/>
          </a:prstGeom>
          <a:solidFill>
            <a:srgbClr val="4E8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88000" y="38100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第三阶段｜机制解析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88000" y="4089400"/>
            <a:ext cx="512985" cy="211138"/>
          </a:xfrm>
          <a:prstGeom prst="roundRect">
            <a:avLst>
              <a:gd name="adj" fmla="val 50000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88000" y="4089400"/>
            <a:ext cx="512985" cy="2111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规划中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88000" y="4343400"/>
            <a:ext cx="5740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全基因组测序 + 关键酶活性测定。</a:t>
            </a:r>
          </a:p>
        </p:txBody>
      </p:sp>
      <p:sp>
        <p:nvSpPr>
          <p:cNvPr id="41" name="Freeform 40"/>
          <p:cNvSpPr/>
          <p:nvPr/>
        </p:nvSpPr>
        <p:spPr>
          <a:xfrm>
            <a:off x="1828800" y="4826000"/>
            <a:ext cx="2133600" cy="990600"/>
          </a:xfrm>
          <a:custGeom>
            <a:avLst/>
            <a:gdLst/>
            <a:ahLst/>
            <a:cxnLst/>
            <a:rect l="l" t="t" r="r" b="b"/>
            <a:pathLst>
              <a:path w="2133600" h="990600">
                <a:moveTo>
                  <a:pt x="0" y="0"/>
                </a:moveTo>
                <a:lnTo>
                  <a:pt x="2133600" y="0"/>
                </a:lnTo>
                <a:lnTo>
                  <a:pt x="1803400" y="990600"/>
                </a:lnTo>
                <a:lnTo>
                  <a:pt x="330200" y="990600"/>
                </a:lnTo>
                <a:close/>
              </a:path>
            </a:pathLst>
          </a:custGeom>
          <a:solidFill>
            <a:srgbClr val="8FB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52600" y="50038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第四阶段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52600" y="52324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堆肥实景验证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2600" y="54864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EAF1F7"/>
                </a:solidFill>
                <a:latin typeface="Arial"/>
                <a:ea typeface="Microsoft YaHei"/>
                <a:cs typeface="Arial"/>
              </a:rPr>
              <a:t>微型反应器</a:t>
            </a:r>
          </a:p>
        </p:txBody>
      </p:sp>
      <p:sp>
        <p:nvSpPr>
          <p:cNvPr id="45" name="Freeform 44"/>
          <p:cNvSpPr/>
          <p:nvPr/>
        </p:nvSpPr>
        <p:spPr>
          <a:xfrm>
            <a:off x="4038600" y="5321300"/>
            <a:ext cx="1397000" cy="0"/>
          </a:xfrm>
          <a:custGeom>
            <a:avLst/>
            <a:gdLst/>
            <a:ahLst/>
            <a:cxnLst/>
            <a:rect l="l" t="t" r="r" b="b"/>
            <a:pathLst>
              <a:path w="1397000" h="0">
                <a:moveTo>
                  <a:pt x="0" y="0"/>
                </a:moveTo>
                <a:lnTo>
                  <a:pt x="1397000" y="0"/>
                </a:lnTo>
              </a:path>
            </a:pathLst>
          </a:custGeom>
          <a:noFill/>
          <a:ln w="12700" cap="flat">
            <a:solidFill>
              <a:srgbClr val="DCE4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473700" y="5276850"/>
            <a:ext cx="88900" cy="88900"/>
          </a:xfrm>
          <a:prstGeom prst="ellipse">
            <a:avLst/>
          </a:prstGeom>
          <a:solidFill>
            <a:srgbClr val="8FB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88000" y="49276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第四阶段｜堆肥实景验证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88000" y="5207000"/>
            <a:ext cx="512985" cy="211138"/>
          </a:xfrm>
          <a:prstGeom prst="roundRect">
            <a:avLst>
              <a:gd name="adj" fmla="val 50000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88000" y="5207000"/>
            <a:ext cx="512985" cy="2111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规划中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88000" y="5461000"/>
            <a:ext cx="5740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构建合成菌群，进行微型反应器堆肥减排验证。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600" y="5943600"/>
            <a:ext cx="533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筛选逻辑：耐受性 → 转化效率 → 机制 → 实景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2A08C"/>
                </a:solidFill>
                <a:latin typeface="Arial"/>
                <a:ea typeface="Microsoft YaHei"/>
                <a:cs typeface="Arial"/>
              </a:rPr>
              <a:t>PART 02 · 当前试验流程与进展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08000"/>
            <a:ext cx="9906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当前阶段核心实验 —— 72h 氮素转化动力学评估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990600"/>
            <a:ext cx="533400" cy="44450"/>
          </a:xfrm>
          <a:prstGeom prst="rect">
            <a:avLst/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800" y="990600"/>
            <a:ext cx="254000" cy="44450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9600" y="119380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 h="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2700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9600" y="645160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 h="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278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高效好氧降氨菌的筛选、机制解析及其在堆肥减排保氮中的应用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6527800"/>
            <a:ext cx="2184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07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1371600"/>
            <a:ext cx="10972800" cy="711200"/>
          </a:xfrm>
          <a:prstGeom prst="roundRect">
            <a:avLst>
              <a:gd name="adj" fmla="val 17857"/>
            </a:avLst>
          </a:prstGeom>
          <a:solidFill>
            <a:srgbClr val="F5F8FB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1416050"/>
            <a:ext cx="50800" cy="622300"/>
          </a:xfrm>
          <a:prstGeom prst="roundRect">
            <a:avLst>
              <a:gd name="adj" fmla="val 50000"/>
            </a:avLst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000" y="1371600"/>
            <a:ext cx="104140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实验目的　</a:t>
            </a:r>
            <a:r>
              <a:rPr sz="125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对初筛获得的候选菌株进行严格的</a:t>
            </a:r>
            <a:r>
              <a:rPr sz="12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氮素物料平衡（Mass Balance）</a:t>
            </a:r>
            <a:r>
              <a:rPr sz="125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测算，探明氨氮去向。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2260600"/>
            <a:ext cx="3505200" cy="15748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9600" y="2313940"/>
            <a:ext cx="50800" cy="1468120"/>
          </a:xfrm>
          <a:prstGeom prst="roundRect">
            <a:avLst>
              <a:gd name="adj" fmla="val 50000"/>
            </a:avLst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52800" y="2413000"/>
            <a:ext cx="558800" cy="558800"/>
          </a:xfrm>
          <a:prstGeom prst="roundRect">
            <a:avLst>
              <a:gd name="adj" fmla="val 27272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3513328" y="2540508"/>
            <a:ext cx="237744" cy="283972"/>
          </a:xfrm>
          <a:custGeom>
            <a:avLst/>
            <a:gdLst/>
            <a:ahLst/>
            <a:cxnLst/>
            <a:rect l="l" t="t" r="r" b="b"/>
            <a:pathLst>
              <a:path w="237744" h="283972">
                <a:moveTo>
                  <a:pt x="85852" y="0"/>
                </a:moveTo>
                <a:lnTo>
                  <a:pt x="85852" y="132080"/>
                </a:lnTo>
                <a:lnTo>
                  <a:pt x="0" y="283972"/>
                </a:lnTo>
                <a:lnTo>
                  <a:pt x="237744" y="283972"/>
                </a:lnTo>
                <a:lnTo>
                  <a:pt x="151892" y="132080"/>
                </a:lnTo>
                <a:lnTo>
                  <a:pt x="151892" y="0"/>
                </a:lnTo>
              </a:path>
            </a:pathLst>
          </a:custGeom>
          <a:noFill/>
          <a:ln w="20320" cap="rnd">
            <a:solidFill>
              <a:srgbClr val="0F3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3579368" y="2540508"/>
            <a:ext cx="105664" cy="0"/>
          </a:xfrm>
          <a:custGeom>
            <a:avLst/>
            <a:gdLst/>
            <a:ahLst/>
            <a:cxnLst/>
            <a:rect l="l" t="t" r="r" b="b"/>
            <a:pathLst>
              <a:path w="105664" h="0">
                <a:moveTo>
                  <a:pt x="0" y="0"/>
                </a:moveTo>
                <a:lnTo>
                  <a:pt x="105664" y="0"/>
                </a:lnTo>
              </a:path>
            </a:pathLst>
          </a:custGeom>
          <a:noFill/>
          <a:ln w="20320" cap="rnd">
            <a:solidFill>
              <a:srgbClr val="0F3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3559556" y="2745232"/>
            <a:ext cx="145288" cy="0"/>
          </a:xfrm>
          <a:custGeom>
            <a:avLst/>
            <a:gdLst/>
            <a:ahLst/>
            <a:cxnLst/>
            <a:rect l="l" t="t" r="r" b="b"/>
            <a:pathLst>
              <a:path w="145288" h="0">
                <a:moveTo>
                  <a:pt x="0" y="0"/>
                </a:moveTo>
                <a:lnTo>
                  <a:pt x="145288" y="0"/>
                </a:lnTo>
              </a:path>
            </a:pathLst>
          </a:custGeom>
          <a:noFill/>
          <a:ln w="17780" cap="rnd">
            <a:solidFill>
              <a:srgbClr val="0F3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12388" y="2765044"/>
            <a:ext cx="29718" cy="29718"/>
          </a:xfrm>
          <a:prstGeom prst="ellipse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3600" y="24384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培养体系 · 培养基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3600" y="2794000"/>
            <a:ext cx="477591" cy="231775"/>
          </a:xfrm>
          <a:prstGeom prst="roundRect">
            <a:avLst>
              <a:gd name="adj" fmla="val 50000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3600" y="2794000"/>
            <a:ext cx="477591" cy="2317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HNM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600" y="3124200"/>
            <a:ext cx="3048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4000"/>
              </a:lnSpc>
              <a:buClr>
                <a:srgbClr val="0F3D6E"/>
              </a:buClr>
              <a:buFont typeface="Arial" pitchFamily="34" charset="0"/>
              <a:buChar char="•"/>
            </a:pPr>
            <a:r>
              <a:rPr sz="11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采用国际标准</a:t>
            </a:r>
            <a:r>
              <a:rPr sz="110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异养硝化培养基（HNM）</a:t>
            </a:r>
            <a:r>
              <a:rPr sz="11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，</a:t>
            </a:r>
            <a:r>
              <a:rPr sz="110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丁二酸钠为唯一碳源</a:t>
            </a:r>
            <a:r>
              <a:rPr sz="11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，排除有机氮干扰。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260600"/>
            <a:ext cx="3505200" cy="15748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43400" y="2313940"/>
            <a:ext cx="50800" cy="1468120"/>
          </a:xfrm>
          <a:prstGeom prst="roundRect">
            <a:avLst>
              <a:gd name="adj" fmla="val 50000"/>
            </a:avLst>
          </a:prstGeom>
          <a:solidFill>
            <a:srgbClr val="0B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86600" y="2413000"/>
            <a:ext cx="558800" cy="558800"/>
          </a:xfrm>
          <a:prstGeom prst="roundRect">
            <a:avLst>
              <a:gd name="adj" fmla="val 27272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7266940" y="2540508"/>
            <a:ext cx="198120" cy="303784"/>
          </a:xfrm>
          <a:custGeom>
            <a:avLst/>
            <a:gdLst/>
            <a:ahLst/>
            <a:cxnLst/>
            <a:rect l="l" t="t" r="r" b="b"/>
            <a:pathLst>
              <a:path w="198120" h="303784">
                <a:moveTo>
                  <a:pt x="99060" y="0"/>
                </a:moveTo>
                <a:lnTo>
                  <a:pt x="0" y="184912"/>
                </a:lnTo>
                <a:lnTo>
                  <a:pt x="0" y="217932"/>
                </a:lnTo>
                <a:lnTo>
                  <a:pt x="99060" y="303784"/>
                </a:lnTo>
                <a:lnTo>
                  <a:pt x="198120" y="217932"/>
                </a:lnTo>
                <a:lnTo>
                  <a:pt x="198120" y="184912"/>
                </a:lnTo>
                <a:lnTo>
                  <a:pt x="99060" y="0"/>
                </a:lnTo>
              </a:path>
            </a:pathLst>
          </a:custGeom>
          <a:noFill/>
          <a:ln w="20320" cap="rnd">
            <a:solidFill>
              <a:srgbClr val="0B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32980" y="2725420"/>
            <a:ext cx="39624" cy="39624"/>
          </a:xfrm>
          <a:prstGeom prst="ellipse">
            <a:avLst/>
          </a:prstGeom>
          <a:solidFill>
            <a:srgbClr val="0B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7400" y="24384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培养体系 · 接种标准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97400" y="2794000"/>
            <a:ext cx="858782" cy="231775"/>
          </a:xfrm>
          <a:prstGeom prst="roundRect">
            <a:avLst>
              <a:gd name="adj" fmla="val 50000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7400" y="2794000"/>
            <a:ext cx="858782" cy="2317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OD600 = 0.1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7400" y="3124200"/>
            <a:ext cx="3048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4000"/>
              </a:lnSpc>
              <a:spcAft>
                <a:spcPts val="400"/>
              </a:spcAft>
              <a:buClr>
                <a:srgbClr val="0B7A6B"/>
              </a:buClr>
              <a:buFont typeface="Arial" pitchFamily="34" charset="0"/>
              <a:buChar char="•"/>
            </a:pPr>
            <a:r>
              <a:rPr sz="11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全样本采用“</a:t>
            </a:r>
            <a:r>
              <a:rPr sz="110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对数期洗菌纯化</a:t>
            </a:r>
            <a:r>
              <a:rPr sz="11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”。</a:t>
            </a:r>
          </a:p>
          <a:p>
            <a:pPr algn="l" marL="177800" indent="-177800">
              <a:lnSpc>
                <a:spcPct val="134000"/>
              </a:lnSpc>
              <a:buClr>
                <a:srgbClr val="0B7A6B"/>
              </a:buClr>
              <a:buFont typeface="Arial" pitchFamily="34" charset="0"/>
              <a:buChar char="•"/>
            </a:pPr>
            <a:r>
              <a:rPr sz="11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统一初始接种量（</a:t>
            </a:r>
            <a:r>
              <a:rPr sz="110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OD</a:t>
            </a:r>
            <a:r>
              <a:rPr sz="769" b="1" i="0" baseline="-2400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600</a:t>
            </a:r>
            <a:r>
              <a:rPr sz="110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=0.1</a:t>
            </a:r>
            <a:r>
              <a:rPr sz="11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），确保起跑线一致。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77200" y="2260600"/>
            <a:ext cx="3505200" cy="15748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77200" y="2313940"/>
            <a:ext cx="50800" cy="1468120"/>
          </a:xfrm>
          <a:prstGeom prst="roundRect">
            <a:avLst>
              <a:gd name="adj" fmla="val 50000"/>
            </a:avLst>
          </a:prstGeom>
          <a:solidFill>
            <a:srgbClr val="DD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820400" y="2413000"/>
            <a:ext cx="558800" cy="558800"/>
          </a:xfrm>
          <a:prstGeom prst="roundRect">
            <a:avLst>
              <a:gd name="adj" fmla="val 27272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066780" y="2533904"/>
            <a:ext cx="66040" cy="237744"/>
          </a:xfrm>
          <a:prstGeom prst="roundRect">
            <a:avLst>
              <a:gd name="adj" fmla="val 50000"/>
            </a:avLst>
          </a:prstGeom>
          <a:noFill/>
          <a:ln w="20320">
            <a:solidFill>
              <a:srgbClr val="DD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033760" y="2765044"/>
            <a:ext cx="132080" cy="132080"/>
          </a:xfrm>
          <a:prstGeom prst="ellipse">
            <a:avLst/>
          </a:prstGeom>
          <a:solidFill>
            <a:srgbClr val="DD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1099800" y="2632964"/>
            <a:ext cx="0" cy="145288"/>
          </a:xfrm>
          <a:custGeom>
            <a:avLst/>
            <a:gdLst/>
            <a:ahLst/>
            <a:cxnLst/>
            <a:rect l="l" t="t" r="r" b="b"/>
            <a:pathLst>
              <a:path w="0" h="145288">
                <a:moveTo>
                  <a:pt x="0" y="145288"/>
                </a:move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DD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1132820" y="2580132"/>
            <a:ext cx="39624" cy="0"/>
          </a:xfrm>
          <a:custGeom>
            <a:avLst/>
            <a:gdLst/>
            <a:ahLst/>
            <a:cxnLst/>
            <a:rect l="l" t="t" r="r" b="b"/>
            <a:pathLst>
              <a:path w="39624" h="0">
                <a:moveTo>
                  <a:pt x="0" y="0"/>
                </a:moveTo>
                <a:lnTo>
                  <a:pt x="39624" y="0"/>
                </a:lnTo>
              </a:path>
            </a:pathLst>
          </a:custGeom>
          <a:noFill/>
          <a:ln w="15240" cap="flat">
            <a:solidFill>
              <a:srgbClr val="DD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1132820" y="2632964"/>
            <a:ext cx="39624" cy="0"/>
          </a:xfrm>
          <a:custGeom>
            <a:avLst/>
            <a:gdLst/>
            <a:ahLst/>
            <a:cxnLst/>
            <a:rect l="l" t="t" r="r" b="b"/>
            <a:pathLst>
              <a:path w="39624" h="0">
                <a:moveTo>
                  <a:pt x="0" y="0"/>
                </a:moveTo>
                <a:lnTo>
                  <a:pt x="39624" y="0"/>
                </a:lnTo>
              </a:path>
            </a:pathLst>
          </a:custGeom>
          <a:noFill/>
          <a:ln w="15240" cap="flat">
            <a:solidFill>
              <a:srgbClr val="DD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1132820" y="2685796"/>
            <a:ext cx="39624" cy="0"/>
          </a:xfrm>
          <a:custGeom>
            <a:avLst/>
            <a:gdLst/>
            <a:ahLst/>
            <a:cxnLst/>
            <a:rect l="l" t="t" r="r" b="b"/>
            <a:pathLst>
              <a:path w="39624" h="0">
                <a:moveTo>
                  <a:pt x="0" y="0"/>
                </a:moveTo>
                <a:lnTo>
                  <a:pt x="39624" y="0"/>
                </a:lnTo>
              </a:path>
            </a:pathLst>
          </a:custGeom>
          <a:noFill/>
          <a:ln w="15240" cap="flat">
            <a:solidFill>
              <a:srgbClr val="DD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1200" y="24384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培养体系 · 培养环境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31200" y="2794000"/>
            <a:ext cx="1009944" cy="231775"/>
          </a:xfrm>
          <a:prstGeom prst="roundRect">
            <a:avLst>
              <a:gd name="adj" fmla="val 50000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1200" y="2794000"/>
            <a:ext cx="1009944" cy="2317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30℃ / 150 rpm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1200" y="3124200"/>
            <a:ext cx="3048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4000"/>
              </a:lnSpc>
              <a:buClr>
                <a:srgbClr val="DD8A2B"/>
              </a:buClr>
              <a:buFont typeface="Arial" pitchFamily="34" charset="0"/>
              <a:buChar char="•"/>
            </a:pPr>
            <a:r>
              <a:rPr sz="1100" b="1" i="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30℃</a:t>
            </a:r>
            <a:r>
              <a:rPr sz="11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，</a:t>
            </a:r>
            <a:r>
              <a:rPr sz="1100" b="1" i="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150 rpm 高转速</a:t>
            </a:r>
            <a:r>
              <a:rPr sz="110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好氧培养。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9600" y="3937000"/>
            <a:ext cx="10972800" cy="23114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3600" y="4089400"/>
            <a:ext cx="508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氮素物料平衡（Mass Balance）测算框架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36000" y="4089400"/>
            <a:ext cx="2692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探明氨氮去向：气态 / 液相 / 生物量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5200" y="4648200"/>
            <a:ext cx="2006600" cy="1168400"/>
          </a:xfrm>
          <a:prstGeom prst="roundRect">
            <a:avLst>
              <a:gd name="adj" fmla="val 10869"/>
            </a:avLst>
          </a:prstGeom>
          <a:solidFill>
            <a:srgbClr val="FCF2E2"/>
          </a:solidFill>
          <a:ln w="17780">
            <a:solidFill>
              <a:srgbClr val="DD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5200" y="4851400"/>
            <a:ext cx="20066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NH</a:t>
            </a:r>
            <a:r>
              <a:rPr sz="1050" b="1" i="0" baseline="-2400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4</a:t>
            </a:r>
            <a:r>
              <a:rPr sz="1050" b="1" i="0" baseline="3000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+</a:t>
            </a:r>
            <a:r>
              <a:rPr sz="1500" b="1" i="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-N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5200" y="5207000"/>
            <a:ext cx="20066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初始氨氮投入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5200" y="5435600"/>
            <a:ext cx="20066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（t = 0 h）</a:t>
            </a:r>
          </a:p>
        </p:txBody>
      </p:sp>
      <p:sp>
        <p:nvSpPr>
          <p:cNvPr id="53" name="Freeform 52"/>
          <p:cNvSpPr/>
          <p:nvPr/>
        </p:nvSpPr>
        <p:spPr>
          <a:xfrm>
            <a:off x="2971800" y="5232400"/>
            <a:ext cx="736600" cy="0"/>
          </a:xfrm>
          <a:custGeom>
            <a:avLst/>
            <a:gdLst/>
            <a:ahLst/>
            <a:cxnLst/>
            <a:rect l="l" t="t" r="r" b="b"/>
            <a:pathLst>
              <a:path w="736600" h="0">
                <a:moveTo>
                  <a:pt x="0" y="0"/>
                </a:moveTo>
                <a:lnTo>
                  <a:pt x="736600" y="0"/>
                </a:lnTo>
              </a:path>
            </a:pathLst>
          </a:custGeom>
          <a:noFill/>
          <a:ln w="20320" cap="flat">
            <a:solidFill>
              <a:srgbClr val="94A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657600" y="5181600"/>
            <a:ext cx="101600" cy="101600"/>
          </a:xfrm>
          <a:prstGeom prst="ellipse">
            <a:avLst/>
          </a:prstGeom>
          <a:solidFill>
            <a:srgbClr val="94A2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3759200" y="4610991"/>
            <a:ext cx="2120102" cy="621409"/>
          </a:xfrm>
          <a:custGeom>
            <a:avLst/>
            <a:gdLst/>
            <a:ahLst/>
            <a:cxnLst/>
            <a:rect l="l" t="t" r="r" b="b"/>
            <a:pathLst>
              <a:path w="2120102" h="621409">
                <a:moveTo>
                  <a:pt x="0" y="621409"/>
                </a:moveTo>
                <a:lnTo>
                  <a:pt x="2120102" y="0"/>
                </a:lnTo>
              </a:path>
            </a:pathLst>
          </a:custGeom>
          <a:noFill/>
          <a:ln w="20320" cap="rnd">
            <a:solidFill>
              <a:srgbClr val="1C55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5866156" y="4566142"/>
            <a:ext cx="102844" cy="89698"/>
          </a:xfrm>
          <a:custGeom>
            <a:avLst/>
            <a:gdLst/>
            <a:ahLst/>
            <a:cxnLst/>
            <a:rect l="l" t="t" r="r" b="b"/>
            <a:pathLst>
              <a:path w="102844" h="89698">
                <a:moveTo>
                  <a:pt x="102844" y="18558"/>
                </a:moveTo>
                <a:lnTo>
                  <a:pt x="26291" y="89698"/>
                </a:lnTo>
                <a:lnTo>
                  <a:pt x="0" y="0"/>
                </a:lnTo>
                <a:close/>
              </a:path>
            </a:pathLst>
          </a:custGeom>
          <a:solidFill>
            <a:srgbClr val="1C5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070600" y="4318000"/>
            <a:ext cx="5257800" cy="533400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7780">
            <a:solidFill>
              <a:srgbClr val="1C55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070600" y="4318000"/>
            <a:ext cx="63500" cy="533400"/>
          </a:xfrm>
          <a:prstGeom prst="roundRect">
            <a:avLst>
              <a:gd name="adj" fmla="val 50000"/>
            </a:avLst>
          </a:prstGeom>
          <a:solidFill>
            <a:srgbClr val="1C5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99200" y="4318000"/>
            <a:ext cx="1651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5590"/>
                </a:solidFill>
                <a:latin typeface="Arial"/>
                <a:ea typeface="Microsoft YaHei"/>
                <a:cs typeface="Arial"/>
              </a:rPr>
              <a:t>生物量氮</a:t>
            </a:r>
          </a:p>
        </p:txBody>
      </p:sp>
      <p:sp>
        <p:nvSpPr>
          <p:cNvPr id="60" name="Freeform 59"/>
          <p:cNvSpPr/>
          <p:nvPr/>
        </p:nvSpPr>
        <p:spPr>
          <a:xfrm>
            <a:off x="8001000" y="4419600"/>
            <a:ext cx="0" cy="330200"/>
          </a:xfrm>
          <a:custGeom>
            <a:avLst/>
            <a:gdLst/>
            <a:ahLst/>
            <a:cxnLst/>
            <a:rect l="l" t="t" r="r" b="b"/>
            <a:pathLst>
              <a:path w="0" h="330200">
                <a:moveTo>
                  <a:pt x="0" y="0"/>
                </a:moveTo>
                <a:lnTo>
                  <a:pt x="0" y="33020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78800" y="4318000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细胞同化 · 菌体干重 / OD600 表征</a:t>
            </a:r>
          </a:p>
        </p:txBody>
      </p:sp>
      <p:sp>
        <p:nvSpPr>
          <p:cNvPr id="62" name="Freeform 61"/>
          <p:cNvSpPr/>
          <p:nvPr/>
        </p:nvSpPr>
        <p:spPr>
          <a:xfrm>
            <a:off x="3759200" y="5232400"/>
            <a:ext cx="2116330" cy="12163"/>
          </a:xfrm>
          <a:custGeom>
            <a:avLst/>
            <a:gdLst/>
            <a:ahLst/>
            <a:cxnLst/>
            <a:rect l="l" t="t" r="r" b="b"/>
            <a:pathLst>
              <a:path w="2116330" h="12163">
                <a:moveTo>
                  <a:pt x="0" y="0"/>
                </a:moveTo>
                <a:lnTo>
                  <a:pt x="2116330" y="12163"/>
                </a:lnTo>
              </a:path>
            </a:pathLst>
          </a:custGeom>
          <a:noFill/>
          <a:ln w="20320" cap="rnd">
            <a:solidFill>
              <a:srgbClr val="2E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5875261" y="5197828"/>
            <a:ext cx="93739" cy="93470"/>
          </a:xfrm>
          <a:custGeom>
            <a:avLst/>
            <a:gdLst/>
            <a:ahLst/>
            <a:cxnLst/>
            <a:rect l="l" t="t" r="r" b="b"/>
            <a:pathLst>
              <a:path w="93739" h="93470">
                <a:moveTo>
                  <a:pt x="93739" y="47272"/>
                </a:moveTo>
                <a:lnTo>
                  <a:pt x="0" y="93470"/>
                </a:lnTo>
                <a:lnTo>
                  <a:pt x="537" y="0"/>
                </a:lnTo>
                <a:close/>
              </a:path>
            </a:pathLst>
          </a:custGeom>
          <a:solidFill>
            <a:srgbClr val="2E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070600" y="4978400"/>
            <a:ext cx="5257800" cy="533400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7780">
            <a:solidFill>
              <a:srgbClr val="2E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070600" y="4978400"/>
            <a:ext cx="63500" cy="533400"/>
          </a:xfrm>
          <a:prstGeom prst="roundRect">
            <a:avLst>
              <a:gd name="adj" fmla="val 50000"/>
            </a:avLst>
          </a:prstGeom>
          <a:solidFill>
            <a:srgbClr val="2E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99200" y="4978400"/>
            <a:ext cx="1651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A5B"/>
                </a:solidFill>
                <a:latin typeface="Arial"/>
                <a:ea typeface="Microsoft YaHei"/>
                <a:cs typeface="Arial"/>
              </a:rPr>
              <a:t>液相残留氮</a:t>
            </a:r>
          </a:p>
        </p:txBody>
      </p:sp>
      <p:sp>
        <p:nvSpPr>
          <p:cNvPr id="67" name="Freeform 66"/>
          <p:cNvSpPr/>
          <p:nvPr/>
        </p:nvSpPr>
        <p:spPr>
          <a:xfrm>
            <a:off x="8001000" y="5080000"/>
            <a:ext cx="0" cy="330200"/>
          </a:xfrm>
          <a:custGeom>
            <a:avLst/>
            <a:gdLst/>
            <a:ahLst/>
            <a:cxnLst/>
            <a:rect l="l" t="t" r="r" b="b"/>
            <a:pathLst>
              <a:path w="0" h="330200">
                <a:moveTo>
                  <a:pt x="0" y="0"/>
                </a:moveTo>
                <a:lnTo>
                  <a:pt x="0" y="33020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78800" y="4978400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NO</a:t>
            </a:r>
            <a:r>
              <a:rPr sz="665" b="0" i="0" baseline="-2400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2</a:t>
            </a:r>
            <a:r>
              <a:rPr sz="665" b="0" i="0" baseline="3000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-</a:t>
            </a:r>
            <a:r>
              <a:rPr sz="9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-N / NO</a:t>
            </a:r>
            <a:r>
              <a:rPr sz="665" b="0" i="0" baseline="-2400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3</a:t>
            </a:r>
            <a:r>
              <a:rPr sz="665" b="0" i="0" baseline="3000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-</a:t>
            </a:r>
            <a:r>
              <a:rPr sz="9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-N 残留（保氮）</a:t>
            </a:r>
          </a:p>
        </p:txBody>
      </p:sp>
      <p:sp>
        <p:nvSpPr>
          <p:cNvPr id="69" name="Freeform 68"/>
          <p:cNvSpPr/>
          <p:nvPr/>
        </p:nvSpPr>
        <p:spPr>
          <a:xfrm>
            <a:off x="3759200" y="5232400"/>
            <a:ext cx="2120384" cy="645864"/>
          </a:xfrm>
          <a:custGeom>
            <a:avLst/>
            <a:gdLst/>
            <a:ahLst/>
            <a:cxnLst/>
            <a:rect l="l" t="t" r="r" b="b"/>
            <a:pathLst>
              <a:path w="2120384" h="645864">
                <a:moveTo>
                  <a:pt x="0" y="0"/>
                </a:moveTo>
                <a:lnTo>
                  <a:pt x="2120384" y="645864"/>
                </a:lnTo>
              </a:path>
            </a:pathLst>
          </a:custGeom>
          <a:noFill/>
          <a:ln w="20320" cap="rnd">
            <a:solidFill>
              <a:srgbClr val="C64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5865966" y="5833556"/>
            <a:ext cx="103034" cy="89416"/>
          </a:xfrm>
          <a:custGeom>
            <a:avLst/>
            <a:gdLst/>
            <a:ahLst/>
            <a:cxnLst/>
            <a:rect l="l" t="t" r="r" b="b"/>
            <a:pathLst>
              <a:path w="103034" h="89416">
                <a:moveTo>
                  <a:pt x="103034" y="71944"/>
                </a:moveTo>
                <a:lnTo>
                  <a:pt x="0" y="89416"/>
                </a:lnTo>
                <a:lnTo>
                  <a:pt x="27236" y="0"/>
                </a:lnTo>
                <a:close/>
              </a:path>
            </a:pathLst>
          </a:custGeom>
          <a:solidFill>
            <a:srgbClr val="C6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070600" y="5638800"/>
            <a:ext cx="5257800" cy="533400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7780">
            <a:solidFill>
              <a:srgbClr val="C64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070600" y="5638800"/>
            <a:ext cx="63500" cy="533400"/>
          </a:xfrm>
          <a:prstGeom prst="roundRect">
            <a:avLst>
              <a:gd name="adj" fmla="val 50000"/>
            </a:avLst>
          </a:prstGeom>
          <a:solidFill>
            <a:srgbClr val="C6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99200" y="5638800"/>
            <a:ext cx="1651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气态氮损失</a:t>
            </a:r>
          </a:p>
        </p:txBody>
      </p:sp>
      <p:sp>
        <p:nvSpPr>
          <p:cNvPr id="74" name="Freeform 73"/>
          <p:cNvSpPr/>
          <p:nvPr/>
        </p:nvSpPr>
        <p:spPr>
          <a:xfrm>
            <a:off x="8001000" y="5740400"/>
            <a:ext cx="0" cy="330200"/>
          </a:xfrm>
          <a:custGeom>
            <a:avLst/>
            <a:gdLst/>
            <a:ahLst/>
            <a:cxnLst/>
            <a:rect l="l" t="t" r="r" b="b"/>
            <a:pathLst>
              <a:path w="0" h="330200">
                <a:moveTo>
                  <a:pt x="0" y="0"/>
                </a:moveTo>
                <a:lnTo>
                  <a:pt x="0" y="33020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78800" y="5638800"/>
            <a:ext cx="3048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N</a:t>
            </a:r>
            <a:r>
              <a:rPr sz="665" b="0" i="0" baseline="-2400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2</a:t>
            </a:r>
            <a:r>
              <a:rPr sz="9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↑ 逸出 · 证实好氧反硝化产气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2A08C"/>
                </a:solidFill>
                <a:latin typeface="Arial"/>
                <a:ea typeface="Microsoft YaHei"/>
                <a:cs typeface="Arial"/>
              </a:rPr>
              <a:t>PART 02 · 当前试验流程与进展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08000"/>
            <a:ext cx="9906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取样与核心检测指标体系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990600"/>
            <a:ext cx="533400" cy="44450"/>
          </a:xfrm>
          <a:prstGeom prst="rect">
            <a:avLst/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800" y="990600"/>
            <a:ext cx="254000" cy="44450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9600" y="119380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 h="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2700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9600" y="645160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 h="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278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高效好氧降氨菌的筛选、机制解析及其在堆肥减排保氮中的应用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6527800"/>
            <a:ext cx="2184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08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1371600"/>
            <a:ext cx="10972800" cy="132080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1524000"/>
            <a:ext cx="330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动态取样频次 · 无菌操作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1549400"/>
            <a:ext cx="533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第 0、12、24、36、48、60、72 小时无菌取样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52000" y="1498600"/>
            <a:ext cx="1227582" cy="265112"/>
          </a:xfrm>
          <a:prstGeom prst="roundRect">
            <a:avLst>
              <a:gd name="adj" fmla="val 50000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2000" y="1498600"/>
            <a:ext cx="1227582" cy="265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检测方法：国标法</a:t>
            </a:r>
          </a:p>
        </p:txBody>
      </p:sp>
      <p:sp>
        <p:nvSpPr>
          <p:cNvPr id="15" name="Freeform 14"/>
          <p:cNvSpPr/>
          <p:nvPr/>
        </p:nvSpPr>
        <p:spPr>
          <a:xfrm>
            <a:off x="1371600" y="2235200"/>
            <a:ext cx="9448800" cy="0"/>
          </a:xfrm>
          <a:custGeom>
            <a:avLst/>
            <a:gdLst/>
            <a:ahLst/>
            <a:cxnLst/>
            <a:rect l="l" t="t" r="r" b="b"/>
            <a:pathLst>
              <a:path w="9448800" h="0">
                <a:moveTo>
                  <a:pt x="0" y="0"/>
                </a:moveTo>
                <a:lnTo>
                  <a:pt x="9448800" y="0"/>
                </a:lnTo>
              </a:path>
            </a:pathLst>
          </a:custGeom>
          <a:noFill/>
          <a:ln w="25400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31900" y="2095500"/>
            <a:ext cx="279400" cy="279400"/>
          </a:xfrm>
          <a:prstGeom prst="ellipse">
            <a:avLst/>
          </a:prstGeom>
          <a:solidFill>
            <a:srgbClr val="12A08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8400" y="2095500"/>
            <a:ext cx="406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</a:t>
            </a:r>
          </a:p>
        </p:txBody>
      </p:sp>
      <p:sp>
        <p:nvSpPr>
          <p:cNvPr id="18" name="Oval 17"/>
          <p:cNvSpPr/>
          <p:nvPr/>
        </p:nvSpPr>
        <p:spPr>
          <a:xfrm>
            <a:off x="2806700" y="2095500"/>
            <a:ext cx="279400" cy="279400"/>
          </a:xfrm>
          <a:prstGeom prst="ellipse">
            <a:avLst/>
          </a:prstGeom>
          <a:solidFill>
            <a:srgbClr val="0F3D6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095500"/>
            <a:ext cx="406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20" name="Oval 19"/>
          <p:cNvSpPr/>
          <p:nvPr/>
        </p:nvSpPr>
        <p:spPr>
          <a:xfrm>
            <a:off x="4381500" y="2095500"/>
            <a:ext cx="279400" cy="279400"/>
          </a:xfrm>
          <a:prstGeom prst="ellipse">
            <a:avLst/>
          </a:prstGeom>
          <a:solidFill>
            <a:srgbClr val="0F3D6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8000" y="2095500"/>
            <a:ext cx="406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22" name="Oval 21"/>
          <p:cNvSpPr/>
          <p:nvPr/>
        </p:nvSpPr>
        <p:spPr>
          <a:xfrm>
            <a:off x="5956300" y="2095500"/>
            <a:ext cx="279400" cy="279400"/>
          </a:xfrm>
          <a:prstGeom prst="ellipse">
            <a:avLst/>
          </a:prstGeom>
          <a:solidFill>
            <a:srgbClr val="0F3D6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2800" y="2095500"/>
            <a:ext cx="406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24" name="Oval 23"/>
          <p:cNvSpPr/>
          <p:nvPr/>
        </p:nvSpPr>
        <p:spPr>
          <a:xfrm>
            <a:off x="7531100" y="2095500"/>
            <a:ext cx="279400" cy="279400"/>
          </a:xfrm>
          <a:prstGeom prst="ellipse">
            <a:avLst/>
          </a:prstGeom>
          <a:solidFill>
            <a:srgbClr val="0F3D6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7600" y="2095500"/>
            <a:ext cx="406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26" name="Oval 25"/>
          <p:cNvSpPr/>
          <p:nvPr/>
        </p:nvSpPr>
        <p:spPr>
          <a:xfrm>
            <a:off x="9105900" y="2095500"/>
            <a:ext cx="279400" cy="279400"/>
          </a:xfrm>
          <a:prstGeom prst="ellipse">
            <a:avLst/>
          </a:prstGeom>
          <a:solidFill>
            <a:srgbClr val="0F3D6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42400" y="2095500"/>
            <a:ext cx="406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28" name="Oval 27"/>
          <p:cNvSpPr/>
          <p:nvPr/>
        </p:nvSpPr>
        <p:spPr>
          <a:xfrm>
            <a:off x="10680700" y="2095500"/>
            <a:ext cx="279400" cy="279400"/>
          </a:xfrm>
          <a:prstGeom prst="ellipse">
            <a:avLst/>
          </a:prstGeom>
          <a:solidFill>
            <a:srgbClr val="12A08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17200" y="2095500"/>
            <a:ext cx="406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9600" y="2413000"/>
            <a:ext cx="381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t / h</a:t>
            </a:r>
          </a:p>
        </p:txBody>
      </p:sp>
      <p:sp>
        <p:nvSpPr>
          <p:cNvPr id="31" name="Freeform 30"/>
          <p:cNvSpPr/>
          <p:nvPr/>
        </p:nvSpPr>
        <p:spPr>
          <a:xfrm>
            <a:off x="10922000" y="2235200"/>
            <a:ext cx="135128" cy="0"/>
          </a:xfrm>
          <a:custGeom>
            <a:avLst/>
            <a:gdLst/>
            <a:ahLst/>
            <a:cxnLst/>
            <a:rect l="l" t="t" r="r" b="b"/>
            <a:pathLst>
              <a:path w="135128" h="0">
                <a:moveTo>
                  <a:pt x="0" y="0"/>
                </a:moveTo>
                <a:lnTo>
                  <a:pt x="135128" y="0"/>
                </a:lnTo>
              </a:path>
            </a:pathLst>
          </a:custGeom>
          <a:noFill/>
          <a:ln w="25400" cap="rnd">
            <a:solidFill>
              <a:srgbClr val="12A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1057128" y="2188464"/>
            <a:ext cx="93472" cy="93472"/>
          </a:xfrm>
          <a:custGeom>
            <a:avLst/>
            <a:gdLst/>
            <a:ahLst/>
            <a:cxnLst/>
            <a:rect l="l" t="t" r="r" b="b"/>
            <a:pathLst>
              <a:path w="93472" h="93472">
                <a:moveTo>
                  <a:pt x="93472" y="46736"/>
                </a:moveTo>
                <a:lnTo>
                  <a:pt x="0" y="93472"/>
                </a:lnTo>
                <a:lnTo>
                  <a:pt x="0" y="0"/>
                </a:lnTo>
                <a:close/>
              </a:path>
            </a:pathLst>
          </a:cu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9600" y="2895600"/>
            <a:ext cx="2590800" cy="2235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09600" y="2895600"/>
            <a:ext cx="2590800" cy="76200"/>
          </a:xfrm>
          <a:prstGeom prst="roundRect">
            <a:avLst>
              <a:gd name="adj" fmla="val 50000"/>
            </a:avLst>
          </a:prstGeom>
          <a:solidFill>
            <a:srgbClr val="DD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87400" y="3149600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7400" y="31496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22400" y="3149600"/>
            <a:ext cx="165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NH</a:t>
            </a:r>
            <a:r>
              <a:rPr sz="1050" b="1" i="0" baseline="-2400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4</a:t>
            </a:r>
            <a:r>
              <a:rPr sz="1050" b="1" i="0" baseline="3000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+</a:t>
            </a:r>
            <a:r>
              <a:rPr sz="1500" b="1" i="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-N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22400" y="3454400"/>
            <a:ext cx="1651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氨氮</a:t>
            </a:r>
          </a:p>
        </p:txBody>
      </p:sp>
      <p:sp>
        <p:nvSpPr>
          <p:cNvPr id="39" name="Freeform 38"/>
          <p:cNvSpPr/>
          <p:nvPr/>
        </p:nvSpPr>
        <p:spPr>
          <a:xfrm>
            <a:off x="787400" y="3784600"/>
            <a:ext cx="2235200" cy="0"/>
          </a:xfrm>
          <a:custGeom>
            <a:avLst/>
            <a:gdLst/>
            <a:ahLst/>
            <a:cxnLst/>
            <a:rect l="l" t="t" r="r" b="b"/>
            <a:pathLst>
              <a:path w="2235200" h="0">
                <a:moveTo>
                  <a:pt x="0" y="0"/>
                </a:moveTo>
                <a:lnTo>
                  <a:pt x="22352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7400" y="3911600"/>
            <a:ext cx="2235200" cy="86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评估初始污染物的直接降解能力。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7400" y="4572000"/>
            <a:ext cx="650113" cy="223838"/>
          </a:xfrm>
          <a:prstGeom prst="roundRect">
            <a:avLst>
              <a:gd name="adj" fmla="val 50000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7400" y="4572000"/>
            <a:ext cx="650113" cy="2238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降解能力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03600" y="2895600"/>
            <a:ext cx="2590800" cy="2235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403600" y="2895600"/>
            <a:ext cx="2590800" cy="76200"/>
          </a:xfrm>
          <a:prstGeom prst="roundRect">
            <a:avLst>
              <a:gd name="adj" fmla="val 50000"/>
            </a:avLst>
          </a:prstGeom>
          <a:solidFill>
            <a:srgbClr val="C64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581400" y="3149600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81400" y="31496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16400" y="3149600"/>
            <a:ext cx="165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NO</a:t>
            </a:r>
            <a:r>
              <a:rPr sz="1050" b="1" i="0" baseline="-2400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2</a:t>
            </a:r>
            <a:r>
              <a:rPr sz="1050" b="1" i="0" baseline="3000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-</a:t>
            </a:r>
            <a:r>
              <a:rPr sz="1500" b="1" i="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-N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16400" y="3454400"/>
            <a:ext cx="1651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亚硝酸盐氮</a:t>
            </a:r>
          </a:p>
        </p:txBody>
      </p:sp>
      <p:sp>
        <p:nvSpPr>
          <p:cNvPr id="49" name="Freeform 48"/>
          <p:cNvSpPr/>
          <p:nvPr/>
        </p:nvSpPr>
        <p:spPr>
          <a:xfrm>
            <a:off x="3581400" y="3784600"/>
            <a:ext cx="2235200" cy="0"/>
          </a:xfrm>
          <a:custGeom>
            <a:avLst/>
            <a:gdLst/>
            <a:ahLst/>
            <a:cxnLst/>
            <a:rect l="l" t="t" r="r" b="b"/>
            <a:pathLst>
              <a:path w="2235200" h="0">
                <a:moveTo>
                  <a:pt x="0" y="0"/>
                </a:moveTo>
                <a:lnTo>
                  <a:pt x="22352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81400" y="3911600"/>
            <a:ext cx="2235200" cy="86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监测是否有毒性中间产物积累。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81400" y="4572000"/>
            <a:ext cx="873570" cy="223838"/>
          </a:xfrm>
          <a:prstGeom prst="roundRect">
            <a:avLst>
              <a:gd name="adj" fmla="val 50000"/>
            </a:avLst>
          </a:prstGeom>
          <a:solidFill>
            <a:srgbClr val="FA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1400" y="4572000"/>
            <a:ext cx="873570" cy="2238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C6434B"/>
                </a:solidFill>
                <a:latin typeface="Arial"/>
                <a:ea typeface="Microsoft YaHei"/>
                <a:cs typeface="Arial"/>
              </a:rPr>
              <a:t>一票否决指标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97600" y="2895600"/>
            <a:ext cx="2590800" cy="2235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197600" y="2895600"/>
            <a:ext cx="2590800" cy="76200"/>
          </a:xfrm>
          <a:prstGeom prst="roundRect">
            <a:avLst>
              <a:gd name="adj" fmla="val 50000"/>
            </a:avLst>
          </a:prstGeom>
          <a:solidFill>
            <a:srgbClr val="2E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375400" y="3149600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75400" y="31496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E9A5B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10400" y="3149600"/>
            <a:ext cx="165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9A5B"/>
                </a:solidFill>
                <a:latin typeface="Arial"/>
                <a:ea typeface="Microsoft YaHei"/>
                <a:cs typeface="Arial"/>
              </a:rPr>
              <a:t>NO</a:t>
            </a:r>
            <a:r>
              <a:rPr sz="1050" b="1" i="0" baseline="-24000">
                <a:solidFill>
                  <a:srgbClr val="2E9A5B"/>
                </a:solidFill>
                <a:latin typeface="Arial"/>
                <a:ea typeface="Microsoft YaHei"/>
                <a:cs typeface="Arial"/>
              </a:rPr>
              <a:t>3</a:t>
            </a:r>
            <a:r>
              <a:rPr sz="1050" b="1" i="0" baseline="30000">
                <a:solidFill>
                  <a:srgbClr val="2E9A5B"/>
                </a:solidFill>
                <a:latin typeface="Arial"/>
                <a:ea typeface="Microsoft YaHei"/>
                <a:cs typeface="Arial"/>
              </a:rPr>
              <a:t>-</a:t>
            </a:r>
            <a:r>
              <a:rPr sz="1500" b="1" i="0">
                <a:solidFill>
                  <a:srgbClr val="2E9A5B"/>
                </a:solidFill>
                <a:latin typeface="Arial"/>
                <a:ea typeface="Microsoft YaHei"/>
                <a:cs typeface="Arial"/>
              </a:rPr>
              <a:t>-N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10400" y="3454400"/>
            <a:ext cx="1651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硝酸盐氮</a:t>
            </a:r>
          </a:p>
        </p:txBody>
      </p:sp>
      <p:sp>
        <p:nvSpPr>
          <p:cNvPr id="59" name="Freeform 58"/>
          <p:cNvSpPr/>
          <p:nvPr/>
        </p:nvSpPr>
        <p:spPr>
          <a:xfrm>
            <a:off x="6375400" y="3784600"/>
            <a:ext cx="2235200" cy="0"/>
          </a:xfrm>
          <a:custGeom>
            <a:avLst/>
            <a:gdLst/>
            <a:ahLst/>
            <a:cxnLst/>
            <a:rect l="l" t="t" r="r" b="b"/>
            <a:pathLst>
              <a:path w="2235200" h="0">
                <a:moveTo>
                  <a:pt x="0" y="0"/>
                </a:moveTo>
                <a:lnTo>
                  <a:pt x="22352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75400" y="3911600"/>
            <a:ext cx="2235200" cy="86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评估菌株将游离氨转化为稳定固态氮肥的能力（保氮指标）。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75400" y="4572000"/>
            <a:ext cx="426656" cy="223838"/>
          </a:xfrm>
          <a:prstGeom prst="roundRect">
            <a:avLst>
              <a:gd name="adj" fmla="val 50000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5400" y="4572000"/>
            <a:ext cx="426656" cy="2238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2E9A5B"/>
                </a:solidFill>
                <a:latin typeface="Arial"/>
                <a:ea typeface="Microsoft YaHei"/>
                <a:cs typeface="Arial"/>
              </a:rPr>
              <a:t>保氮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91600" y="2895600"/>
            <a:ext cx="2590800" cy="2235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991600" y="2895600"/>
            <a:ext cx="2590800" cy="76200"/>
          </a:xfrm>
          <a:prstGeom prst="roundRect">
            <a:avLst>
              <a:gd name="adj" fmla="val 50000"/>
            </a:avLst>
          </a:prstGeom>
          <a:solidFill>
            <a:srgbClr val="2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169400" y="3149600"/>
            <a:ext cx="508000" cy="5080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69400" y="31496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A6FB0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04400" y="3149600"/>
            <a:ext cx="165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6FB0"/>
                </a:solidFill>
                <a:latin typeface="Arial"/>
                <a:ea typeface="Microsoft YaHei"/>
                <a:cs typeface="Arial"/>
              </a:rPr>
              <a:t>TN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04400" y="3454400"/>
            <a:ext cx="1651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总氮</a:t>
            </a:r>
          </a:p>
        </p:txBody>
      </p:sp>
      <p:sp>
        <p:nvSpPr>
          <p:cNvPr id="69" name="Freeform 68"/>
          <p:cNvSpPr/>
          <p:nvPr/>
        </p:nvSpPr>
        <p:spPr>
          <a:xfrm>
            <a:off x="9169400" y="3784600"/>
            <a:ext cx="2235200" cy="0"/>
          </a:xfrm>
          <a:custGeom>
            <a:avLst/>
            <a:gdLst/>
            <a:ahLst/>
            <a:cxnLst/>
            <a:rect l="l" t="t" r="r" b="b"/>
            <a:pathLst>
              <a:path w="2235200" h="0">
                <a:moveTo>
                  <a:pt x="0" y="0"/>
                </a:moveTo>
                <a:lnTo>
                  <a:pt x="22352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69400" y="3911600"/>
            <a:ext cx="2235200" cy="86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结合细胞干重（或OD600），计算气态氮流失率，证实好氧反硝化产气能力。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69400" y="4572000"/>
            <a:ext cx="761841" cy="223838"/>
          </a:xfrm>
          <a:prstGeom prst="roundRect">
            <a:avLst>
              <a:gd name="adj" fmla="val 50000"/>
            </a:avLst>
          </a:prstGeom>
          <a:solidFill>
            <a:srgbClr val="EB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69400" y="4572000"/>
            <a:ext cx="761841" cy="2238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2A6FB0"/>
                </a:solidFill>
                <a:latin typeface="Arial"/>
                <a:ea typeface="Microsoft YaHei"/>
                <a:cs typeface="Arial"/>
              </a:rPr>
              <a:t>气态流失率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9600" y="5334000"/>
            <a:ext cx="10972800" cy="558800"/>
          </a:xfrm>
          <a:prstGeom prst="roundRect">
            <a:avLst>
              <a:gd name="adj" fmla="val 22727"/>
            </a:avLst>
          </a:prstGeom>
          <a:solidFill>
            <a:srgbClr val="F5F8FB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09600" y="5378450"/>
            <a:ext cx="50800" cy="469900"/>
          </a:xfrm>
          <a:prstGeom prst="roundRect">
            <a:avLst>
              <a:gd name="adj" fmla="val 50000"/>
            </a:avLst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89000" y="5334000"/>
            <a:ext cx="10414000" cy="55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指标逻辑：</a:t>
            </a:r>
            <a:r>
              <a:rPr sz="10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降解（NH</a:t>
            </a:r>
            <a:r>
              <a:rPr sz="735" b="0" i="0" baseline="-2400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4</a:t>
            </a:r>
            <a:r>
              <a:rPr sz="10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+）→ 安全（NO</a:t>
            </a:r>
            <a:r>
              <a:rPr sz="735" b="0" i="0" baseline="-2400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2</a:t>
            </a:r>
            <a:r>
              <a:rPr sz="10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- 不积累）→ 保氮（NO</a:t>
            </a:r>
            <a:r>
              <a:rPr sz="735" b="0" i="0" baseline="-2400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3</a:t>
            </a:r>
            <a:r>
              <a:rPr sz="10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- 生成）→ 归趋（TN 平衡）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787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2A08C"/>
                </a:solidFill>
                <a:latin typeface="Arial"/>
                <a:ea typeface="Microsoft YaHei"/>
                <a:cs typeface="Arial"/>
              </a:rPr>
              <a:t>PART 02 · 当前试验流程与进展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508000"/>
            <a:ext cx="9906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预期结果与下一步计划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990600"/>
            <a:ext cx="533400" cy="44450"/>
          </a:xfrm>
          <a:prstGeom prst="rect">
            <a:avLst/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800" y="990600"/>
            <a:ext cx="254000" cy="44450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9600" y="119380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 h="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2700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9600" y="645160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 h="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flat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278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高效好氧降氨菌的筛选、机制解析及其在堆肥减排保氮中的应用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6527800"/>
            <a:ext cx="21844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09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1371600"/>
            <a:ext cx="6172200" cy="4775200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1574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预期输出成果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3600" y="1879600"/>
            <a:ext cx="431800" cy="38100"/>
          </a:xfrm>
          <a:prstGeom prst="rect">
            <a:avLst/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600" y="2032000"/>
            <a:ext cx="5664200" cy="965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2000"/>
              </a:lnSpc>
              <a:spcAft>
                <a:spcPts val="500"/>
              </a:spcAft>
              <a:buClr>
                <a:srgbClr val="12A08C"/>
              </a:buClr>
              <a:buFont typeface="Arial" pitchFamily="34" charset="0"/>
              <a:buChar char="•"/>
            </a:pPr>
            <a:r>
              <a:rPr sz="115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绘制出目标菌株的“生长-降氮”特征动力学曲线。</a:t>
            </a:r>
          </a:p>
          <a:p>
            <a:pPr algn="l" marL="177800" indent="-177800">
              <a:lnSpc>
                <a:spcPct val="132000"/>
              </a:lnSpc>
              <a:buClr>
                <a:srgbClr val="12A08C"/>
              </a:buClr>
              <a:buFont typeface="Arial" pitchFamily="34" charset="0"/>
              <a:buChar char="•"/>
            </a:pPr>
            <a:r>
              <a:rPr sz="115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从 121 株菌中，精准锁定 1-2 株具备“</a:t>
            </a:r>
            <a:r>
              <a:rPr sz="115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不积累亚硝酸盐 + 总氮显著下降/转化为硝态氮</a:t>
            </a:r>
            <a:r>
              <a:rPr sz="1150" b="0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”的王牌好氧降氨菌。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68400" y="3581400"/>
            <a:ext cx="5029200" cy="1981200"/>
          </a:xfrm>
          <a:prstGeom prst="roundRect">
            <a:avLst>
              <a:gd name="adj" fmla="val 5128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752600" y="3733800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27940" cap="flat">
            <a:solidFill>
              <a:srgbClr val="DD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06600" y="3644900"/>
            <a:ext cx="9652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D8A2B"/>
                </a:solidFill>
                <a:latin typeface="Arial"/>
                <a:ea typeface="Microsoft YaHei"/>
                <a:cs typeface="Arial"/>
              </a:rPr>
              <a:t>NH4+-N</a:t>
            </a:r>
          </a:p>
        </p:txBody>
      </p:sp>
      <p:sp>
        <p:nvSpPr>
          <p:cNvPr id="17" name="Freeform 16"/>
          <p:cNvSpPr/>
          <p:nvPr/>
        </p:nvSpPr>
        <p:spPr>
          <a:xfrm>
            <a:off x="2921000" y="3733800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27940" cap="flat">
            <a:solidFill>
              <a:srgbClr val="2E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5000" y="3644900"/>
            <a:ext cx="9652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E9A5B"/>
                </a:solidFill>
                <a:latin typeface="Arial"/>
                <a:ea typeface="Microsoft YaHei"/>
                <a:cs typeface="Arial"/>
              </a:rPr>
              <a:t>NO3--N</a:t>
            </a:r>
          </a:p>
        </p:txBody>
      </p:sp>
      <p:sp>
        <p:nvSpPr>
          <p:cNvPr id="19" name="Freeform 18"/>
          <p:cNvSpPr/>
          <p:nvPr/>
        </p:nvSpPr>
        <p:spPr>
          <a:xfrm>
            <a:off x="4089400" y="3733800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27940" cap="flat">
            <a:solidFill>
              <a:srgbClr val="2A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3644900"/>
            <a:ext cx="9652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A6FB0"/>
                </a:solidFill>
                <a:latin typeface="Arial"/>
                <a:ea typeface="Microsoft YaHei"/>
                <a:cs typeface="Arial"/>
              </a:rPr>
              <a:t>TN</a:t>
            </a:r>
          </a:p>
        </p:txBody>
      </p:sp>
      <p:sp>
        <p:nvSpPr>
          <p:cNvPr id="21" name="Freeform 20"/>
          <p:cNvSpPr/>
          <p:nvPr/>
        </p:nvSpPr>
        <p:spPr>
          <a:xfrm>
            <a:off x="5257800" y="3733800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27940" cap="flat">
            <a:solidFill>
              <a:srgbClr val="0F3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11800" y="3644900"/>
            <a:ext cx="9652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OD600</a:t>
            </a:r>
          </a:p>
        </p:txBody>
      </p:sp>
      <p:sp>
        <p:nvSpPr>
          <p:cNvPr id="23" name="Freeform 22"/>
          <p:cNvSpPr/>
          <p:nvPr/>
        </p:nvSpPr>
        <p:spPr>
          <a:xfrm>
            <a:off x="1600200" y="3911600"/>
            <a:ext cx="0" cy="1346200"/>
          </a:xfrm>
          <a:custGeom>
            <a:avLst/>
            <a:gdLst/>
            <a:ahLst/>
            <a:cxnLst/>
            <a:rect l="l" t="t" r="r" b="b"/>
            <a:pathLst>
              <a:path w="0" h="1346200">
                <a:moveTo>
                  <a:pt x="0" y="0"/>
                </a:moveTo>
                <a:lnTo>
                  <a:pt x="0" y="1346200"/>
                </a:lnTo>
              </a:path>
            </a:pathLst>
          </a:custGeom>
          <a:noFill/>
          <a:ln w="15240" cap="flat">
            <a:solidFill>
              <a:srgbClr val="94A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600200" y="5257800"/>
            <a:ext cx="4419600" cy="0"/>
          </a:xfrm>
          <a:custGeom>
            <a:avLst/>
            <a:gdLst/>
            <a:ahLst/>
            <a:cxnLst/>
            <a:rect l="l" t="t" r="r" b="b"/>
            <a:pathLst>
              <a:path w="4419600" h="0">
                <a:moveTo>
                  <a:pt x="0" y="0"/>
                </a:moveTo>
                <a:lnTo>
                  <a:pt x="4419600" y="0"/>
                </a:lnTo>
              </a:path>
            </a:pathLst>
          </a:custGeom>
          <a:noFill/>
          <a:ln w="15240" cap="flat">
            <a:solidFill>
              <a:srgbClr val="94A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600200" y="3905504"/>
            <a:ext cx="0" cy="6096"/>
          </a:xfrm>
          <a:custGeom>
            <a:avLst/>
            <a:gdLst/>
            <a:ahLst/>
            <a:cxnLst/>
            <a:rect l="l" t="t" r="r" b="b"/>
            <a:pathLst>
              <a:path w="0" h="6096">
                <a:moveTo>
                  <a:pt x="0" y="6096"/>
                </a:moveTo>
                <a:lnTo>
                  <a:pt x="0" y="0"/>
                </a:lnTo>
              </a:path>
            </a:pathLst>
          </a:custGeom>
          <a:noFill/>
          <a:ln w="15240" cap="rnd">
            <a:solidFill>
              <a:srgbClr val="94A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565148" y="3835400"/>
            <a:ext cx="70104" cy="70104"/>
          </a:xfrm>
          <a:custGeom>
            <a:avLst/>
            <a:gdLst/>
            <a:ahLst/>
            <a:cxnLst/>
            <a:rect l="l" t="t" r="r" b="b"/>
            <a:pathLst>
              <a:path w="70104" h="70104">
                <a:moveTo>
                  <a:pt x="35052" y="0"/>
                </a:moveTo>
                <a:lnTo>
                  <a:pt x="70104" y="70104"/>
                </a:lnTo>
                <a:lnTo>
                  <a:pt x="0" y="70104"/>
                </a:lnTo>
                <a:close/>
              </a:path>
            </a:pathLst>
          </a:custGeom>
          <a:solidFill>
            <a:srgbClr val="94A2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6019800" y="5257800"/>
            <a:ext cx="31496" cy="0"/>
          </a:xfrm>
          <a:custGeom>
            <a:avLst/>
            <a:gdLst/>
            <a:ahLst/>
            <a:cxnLst/>
            <a:rect l="l" t="t" r="r" b="b"/>
            <a:pathLst>
              <a:path w="31496" h="0">
                <a:moveTo>
                  <a:pt x="0" y="0"/>
                </a:moveTo>
                <a:lnTo>
                  <a:pt x="31496" y="0"/>
                </a:lnTo>
              </a:path>
            </a:pathLst>
          </a:custGeom>
          <a:noFill/>
          <a:ln w="15240" cap="rnd">
            <a:solidFill>
              <a:srgbClr val="94A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6051296" y="5222748"/>
            <a:ext cx="70104" cy="70104"/>
          </a:xfrm>
          <a:custGeom>
            <a:avLst/>
            <a:gdLst/>
            <a:ahLst/>
            <a:cxnLst/>
            <a:rect l="l" t="t" r="r" b="b"/>
            <a:pathLst>
              <a:path w="70104" h="70104">
                <a:moveTo>
                  <a:pt x="70104" y="35052"/>
                </a:moveTo>
                <a:lnTo>
                  <a:pt x="0" y="70104"/>
                </a:lnTo>
                <a:lnTo>
                  <a:pt x="0" y="0"/>
                </a:lnTo>
                <a:close/>
              </a:path>
            </a:pathLst>
          </a:custGeom>
          <a:solidFill>
            <a:srgbClr val="94A2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76400" y="3860800"/>
            <a:ext cx="152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浓度 / OD600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35600" y="5334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t / h</a:t>
            </a:r>
          </a:p>
        </p:txBody>
      </p:sp>
      <p:sp>
        <p:nvSpPr>
          <p:cNvPr id="31" name="Freeform 30"/>
          <p:cNvSpPr/>
          <p:nvPr/>
        </p:nvSpPr>
        <p:spPr>
          <a:xfrm>
            <a:off x="1600200" y="525780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2700" cap="flat">
            <a:solidFill>
              <a:srgbClr val="94A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73200" y="5334000"/>
            <a:ext cx="304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0</a:t>
            </a:r>
          </a:p>
        </p:txBody>
      </p:sp>
      <p:sp>
        <p:nvSpPr>
          <p:cNvPr id="33" name="Freeform 32"/>
          <p:cNvSpPr/>
          <p:nvPr/>
        </p:nvSpPr>
        <p:spPr>
          <a:xfrm>
            <a:off x="3022600" y="525780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2700" cap="flat">
            <a:solidFill>
              <a:srgbClr val="94A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95600" y="5334000"/>
            <a:ext cx="304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35" name="Freeform 34"/>
          <p:cNvSpPr/>
          <p:nvPr/>
        </p:nvSpPr>
        <p:spPr>
          <a:xfrm>
            <a:off x="4445000" y="525780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2700" cap="flat">
            <a:solidFill>
              <a:srgbClr val="94A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18000" y="5334000"/>
            <a:ext cx="304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37" name="Freeform 36"/>
          <p:cNvSpPr/>
          <p:nvPr/>
        </p:nvSpPr>
        <p:spPr>
          <a:xfrm>
            <a:off x="5867400" y="5257800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2700" cap="flat">
            <a:solidFill>
              <a:srgbClr val="94A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40400" y="5334000"/>
            <a:ext cx="304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  <p:sp>
        <p:nvSpPr>
          <p:cNvPr id="39" name="Freeform 38"/>
          <p:cNvSpPr/>
          <p:nvPr/>
        </p:nvSpPr>
        <p:spPr>
          <a:xfrm>
            <a:off x="1676400" y="4104640"/>
            <a:ext cx="4191000" cy="960120"/>
          </a:xfrm>
          <a:custGeom>
            <a:avLst/>
            <a:gdLst/>
            <a:ahLst/>
            <a:cxnLst/>
            <a:rect l="l" t="t" r="r" b="b"/>
            <a:pathLst>
              <a:path w="4191000" h="960120">
                <a:moveTo>
                  <a:pt x="0" y="0"/>
                </a:moveTo>
                <a:lnTo>
                  <a:pt x="51096" y="20666"/>
                </a:lnTo>
                <a:lnTo>
                  <a:pt x="105901" y="42902"/>
                </a:lnTo>
                <a:lnTo>
                  <a:pt x="164031" y="66535"/>
                </a:lnTo>
                <a:lnTo>
                  <a:pt x="225103" y="91395"/>
                </a:lnTo>
                <a:lnTo>
                  <a:pt x="288732" y="117310"/>
                </a:lnTo>
                <a:lnTo>
                  <a:pt x="354536" y="144108"/>
                </a:lnTo>
                <a:lnTo>
                  <a:pt x="422131" y="171618"/>
                </a:lnTo>
                <a:lnTo>
                  <a:pt x="491133" y="199668"/>
                </a:lnTo>
                <a:lnTo>
                  <a:pt x="561158" y="228086"/>
                </a:lnTo>
                <a:lnTo>
                  <a:pt x="631822" y="256701"/>
                </a:lnTo>
                <a:lnTo>
                  <a:pt x="702742" y="285340"/>
                </a:lnTo>
                <a:lnTo>
                  <a:pt x="773534" y="313834"/>
                </a:lnTo>
                <a:lnTo>
                  <a:pt x="843815" y="342009"/>
                </a:lnTo>
                <a:lnTo>
                  <a:pt x="913200" y="369695"/>
                </a:lnTo>
                <a:lnTo>
                  <a:pt x="981306" y="396719"/>
                </a:lnTo>
                <a:lnTo>
                  <a:pt x="1047750" y="422910"/>
                </a:lnTo>
                <a:lnTo>
                  <a:pt x="1113234" y="447353"/>
                </a:lnTo>
                <a:lnTo>
                  <a:pt x="1178719" y="472051"/>
                </a:lnTo>
                <a:lnTo>
                  <a:pt x="1244203" y="496925"/>
                </a:lnTo>
                <a:lnTo>
                  <a:pt x="1309688" y="521896"/>
                </a:lnTo>
                <a:lnTo>
                  <a:pt x="1375172" y="546883"/>
                </a:lnTo>
                <a:lnTo>
                  <a:pt x="1440656" y="571807"/>
                </a:lnTo>
                <a:lnTo>
                  <a:pt x="1506141" y="596589"/>
                </a:lnTo>
                <a:lnTo>
                  <a:pt x="1571625" y="621149"/>
                </a:lnTo>
                <a:lnTo>
                  <a:pt x="1637109" y="645408"/>
                </a:lnTo>
                <a:lnTo>
                  <a:pt x="1702594" y="669286"/>
                </a:lnTo>
                <a:lnTo>
                  <a:pt x="1768078" y="692703"/>
                </a:lnTo>
                <a:lnTo>
                  <a:pt x="1833562" y="715581"/>
                </a:lnTo>
                <a:lnTo>
                  <a:pt x="1899047" y="737838"/>
                </a:lnTo>
                <a:lnTo>
                  <a:pt x="1964531" y="759397"/>
                </a:lnTo>
                <a:lnTo>
                  <a:pt x="2030016" y="780178"/>
                </a:lnTo>
                <a:lnTo>
                  <a:pt x="2095500" y="800100"/>
                </a:lnTo>
                <a:lnTo>
                  <a:pt x="2160984" y="810917"/>
                </a:lnTo>
                <a:lnTo>
                  <a:pt x="2226469" y="820912"/>
                </a:lnTo>
                <a:lnTo>
                  <a:pt x="2291953" y="830156"/>
                </a:lnTo>
                <a:lnTo>
                  <a:pt x="2357438" y="838721"/>
                </a:lnTo>
                <a:lnTo>
                  <a:pt x="2422922" y="846677"/>
                </a:lnTo>
                <a:lnTo>
                  <a:pt x="2488406" y="854097"/>
                </a:lnTo>
                <a:lnTo>
                  <a:pt x="2553891" y="861050"/>
                </a:lnTo>
                <a:lnTo>
                  <a:pt x="2619375" y="867608"/>
                </a:lnTo>
                <a:lnTo>
                  <a:pt x="2684859" y="873843"/>
                </a:lnTo>
                <a:lnTo>
                  <a:pt x="2750344" y="879825"/>
                </a:lnTo>
                <a:lnTo>
                  <a:pt x="2815828" y="885626"/>
                </a:lnTo>
                <a:lnTo>
                  <a:pt x="2881312" y="891317"/>
                </a:lnTo>
                <a:lnTo>
                  <a:pt x="2946797" y="896968"/>
                </a:lnTo>
                <a:lnTo>
                  <a:pt x="3012281" y="902652"/>
                </a:lnTo>
                <a:lnTo>
                  <a:pt x="3077766" y="908439"/>
                </a:lnTo>
                <a:lnTo>
                  <a:pt x="3143250" y="914400"/>
                </a:lnTo>
                <a:lnTo>
                  <a:pt x="3209694" y="918241"/>
                </a:lnTo>
                <a:lnTo>
                  <a:pt x="3277800" y="921912"/>
                </a:lnTo>
                <a:lnTo>
                  <a:pt x="3347185" y="925421"/>
                </a:lnTo>
                <a:lnTo>
                  <a:pt x="3417466" y="928777"/>
                </a:lnTo>
                <a:lnTo>
                  <a:pt x="3488258" y="931987"/>
                </a:lnTo>
                <a:lnTo>
                  <a:pt x="3559178" y="935061"/>
                </a:lnTo>
                <a:lnTo>
                  <a:pt x="3629842" y="938006"/>
                </a:lnTo>
                <a:lnTo>
                  <a:pt x="3699867" y="940832"/>
                </a:lnTo>
                <a:lnTo>
                  <a:pt x="3768869" y="943546"/>
                </a:lnTo>
                <a:lnTo>
                  <a:pt x="3836464" y="946156"/>
                </a:lnTo>
                <a:lnTo>
                  <a:pt x="3902268" y="948672"/>
                </a:lnTo>
                <a:lnTo>
                  <a:pt x="3965897" y="951101"/>
                </a:lnTo>
                <a:lnTo>
                  <a:pt x="4026969" y="953452"/>
                </a:lnTo>
                <a:lnTo>
                  <a:pt x="4085099" y="955733"/>
                </a:lnTo>
                <a:lnTo>
                  <a:pt x="4139904" y="957953"/>
                </a:lnTo>
                <a:lnTo>
                  <a:pt x="4191000" y="960120"/>
                </a:lnTo>
              </a:path>
            </a:pathLst>
          </a:custGeom>
          <a:noFill/>
          <a:ln w="25400" cap="rnd">
            <a:solidFill>
              <a:srgbClr val="DD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676400" y="4241800"/>
            <a:ext cx="4191000" cy="800100"/>
          </a:xfrm>
          <a:custGeom>
            <a:avLst/>
            <a:gdLst/>
            <a:ahLst/>
            <a:cxnLst/>
            <a:rect l="l" t="t" r="r" b="b"/>
            <a:pathLst>
              <a:path w="4191000" h="800100">
                <a:moveTo>
                  <a:pt x="0" y="800100"/>
                </a:moveTo>
                <a:lnTo>
                  <a:pt x="61315" y="786764"/>
                </a:lnTo>
                <a:lnTo>
                  <a:pt x="127081" y="772530"/>
                </a:lnTo>
                <a:lnTo>
                  <a:pt x="196837" y="757480"/>
                </a:lnTo>
                <a:lnTo>
                  <a:pt x="270123" y="741700"/>
                </a:lnTo>
                <a:lnTo>
                  <a:pt x="346479" y="725272"/>
                </a:lnTo>
                <a:lnTo>
                  <a:pt x="425444" y="708280"/>
                </a:lnTo>
                <a:lnTo>
                  <a:pt x="506557" y="690809"/>
                </a:lnTo>
                <a:lnTo>
                  <a:pt x="589359" y="672941"/>
                </a:lnTo>
                <a:lnTo>
                  <a:pt x="673389" y="654761"/>
                </a:lnTo>
                <a:lnTo>
                  <a:pt x="758186" y="636352"/>
                </a:lnTo>
                <a:lnTo>
                  <a:pt x="843290" y="617798"/>
                </a:lnTo>
                <a:lnTo>
                  <a:pt x="928241" y="599182"/>
                </a:lnTo>
                <a:lnTo>
                  <a:pt x="1012578" y="580589"/>
                </a:lnTo>
                <a:lnTo>
                  <a:pt x="1095840" y="562102"/>
                </a:lnTo>
                <a:lnTo>
                  <a:pt x="1177568" y="543804"/>
                </a:lnTo>
                <a:lnTo>
                  <a:pt x="1257300" y="525780"/>
                </a:lnTo>
                <a:lnTo>
                  <a:pt x="1335498" y="506301"/>
                </a:lnTo>
                <a:lnTo>
                  <a:pt x="1413030" y="486478"/>
                </a:lnTo>
                <a:lnTo>
                  <a:pt x="1490051" y="466371"/>
                </a:lnTo>
                <a:lnTo>
                  <a:pt x="1566714" y="446038"/>
                </a:lnTo>
                <a:lnTo>
                  <a:pt x="1643172" y="425537"/>
                </a:lnTo>
                <a:lnTo>
                  <a:pt x="1719579" y="404928"/>
                </a:lnTo>
                <a:lnTo>
                  <a:pt x="1796088" y="384268"/>
                </a:lnTo>
                <a:lnTo>
                  <a:pt x="1872853" y="363617"/>
                </a:lnTo>
                <a:lnTo>
                  <a:pt x="1950027" y="343033"/>
                </a:lnTo>
                <a:lnTo>
                  <a:pt x="2027765" y="322574"/>
                </a:lnTo>
                <a:lnTo>
                  <a:pt x="2106218" y="302299"/>
                </a:lnTo>
                <a:lnTo>
                  <a:pt x="2185541" y="282267"/>
                </a:lnTo>
                <a:lnTo>
                  <a:pt x="2265887" y="262537"/>
                </a:lnTo>
                <a:lnTo>
                  <a:pt x="2347410" y="243167"/>
                </a:lnTo>
                <a:lnTo>
                  <a:pt x="2430263" y="224215"/>
                </a:lnTo>
                <a:lnTo>
                  <a:pt x="2514600" y="205740"/>
                </a:lnTo>
                <a:lnTo>
                  <a:pt x="2615154" y="191123"/>
                </a:lnTo>
                <a:lnTo>
                  <a:pt x="2719853" y="176585"/>
                </a:lnTo>
                <a:lnTo>
                  <a:pt x="2827927" y="162158"/>
                </a:lnTo>
                <a:lnTo>
                  <a:pt x="2938611" y="147876"/>
                </a:lnTo>
                <a:lnTo>
                  <a:pt x="3051137" y="133772"/>
                </a:lnTo>
                <a:lnTo>
                  <a:pt x="3164737" y="119881"/>
                </a:lnTo>
                <a:lnTo>
                  <a:pt x="3278644" y="106235"/>
                </a:lnTo>
                <a:lnTo>
                  <a:pt x="3392091" y="92869"/>
                </a:lnTo>
                <a:lnTo>
                  <a:pt x="3504309" y="79815"/>
                </a:lnTo>
                <a:lnTo>
                  <a:pt x="3614533" y="67107"/>
                </a:lnTo>
                <a:lnTo>
                  <a:pt x="3721994" y="54778"/>
                </a:lnTo>
                <a:lnTo>
                  <a:pt x="3825925" y="42862"/>
                </a:lnTo>
                <a:lnTo>
                  <a:pt x="3925558" y="31393"/>
                </a:lnTo>
                <a:lnTo>
                  <a:pt x="4020127" y="20404"/>
                </a:lnTo>
                <a:lnTo>
                  <a:pt x="4108863" y="9929"/>
                </a:lnTo>
                <a:lnTo>
                  <a:pt x="4191000" y="0"/>
                </a:lnTo>
              </a:path>
            </a:pathLst>
          </a:custGeom>
          <a:noFill/>
          <a:ln w="25400" cap="rnd">
            <a:solidFill>
              <a:srgbClr val="2E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676400" y="4173220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0" y="0"/>
                </a:moveTo>
                <a:lnTo>
                  <a:pt x="71534" y="11148"/>
                </a:lnTo>
                <a:lnTo>
                  <a:pt x="148261" y="23106"/>
                </a:lnTo>
                <a:lnTo>
                  <a:pt x="229643" y="35789"/>
                </a:lnTo>
                <a:lnTo>
                  <a:pt x="315144" y="49113"/>
                </a:lnTo>
                <a:lnTo>
                  <a:pt x="404225" y="62996"/>
                </a:lnTo>
                <a:lnTo>
                  <a:pt x="496351" y="77353"/>
                </a:lnTo>
                <a:lnTo>
                  <a:pt x="590984" y="92101"/>
                </a:lnTo>
                <a:lnTo>
                  <a:pt x="687586" y="107156"/>
                </a:lnTo>
                <a:lnTo>
                  <a:pt x="785621" y="122434"/>
                </a:lnTo>
                <a:lnTo>
                  <a:pt x="884551" y="137852"/>
                </a:lnTo>
                <a:lnTo>
                  <a:pt x="983839" y="153326"/>
                </a:lnTo>
                <a:lnTo>
                  <a:pt x="1082948" y="168771"/>
                </a:lnTo>
                <a:lnTo>
                  <a:pt x="1181341" y="184105"/>
                </a:lnTo>
                <a:lnTo>
                  <a:pt x="1278480" y="199244"/>
                </a:lnTo>
                <a:lnTo>
                  <a:pt x="1373829" y="214103"/>
                </a:lnTo>
                <a:lnTo>
                  <a:pt x="1466850" y="228600"/>
                </a:lnTo>
                <a:lnTo>
                  <a:pt x="1558720" y="242992"/>
                </a:lnTo>
                <a:lnTo>
                  <a:pt x="1650922" y="257566"/>
                </a:lnTo>
                <a:lnTo>
                  <a:pt x="1743381" y="272279"/>
                </a:lnTo>
                <a:lnTo>
                  <a:pt x="1836018" y="287089"/>
                </a:lnTo>
                <a:lnTo>
                  <a:pt x="1928758" y="301956"/>
                </a:lnTo>
                <a:lnTo>
                  <a:pt x="2021523" y="316836"/>
                </a:lnTo>
                <a:lnTo>
                  <a:pt x="2114237" y="331689"/>
                </a:lnTo>
                <a:lnTo>
                  <a:pt x="2206823" y="346472"/>
                </a:lnTo>
                <a:lnTo>
                  <a:pt x="2299205" y="361143"/>
                </a:lnTo>
                <a:lnTo>
                  <a:pt x="2391305" y="375661"/>
                </a:lnTo>
                <a:lnTo>
                  <a:pt x="2483047" y="389983"/>
                </a:lnTo>
                <a:lnTo>
                  <a:pt x="2574354" y="404068"/>
                </a:lnTo>
                <a:lnTo>
                  <a:pt x="2665150" y="417874"/>
                </a:lnTo>
                <a:lnTo>
                  <a:pt x="2755357" y="431360"/>
                </a:lnTo>
                <a:lnTo>
                  <a:pt x="2844900" y="444482"/>
                </a:lnTo>
                <a:lnTo>
                  <a:pt x="2933700" y="457200"/>
                </a:lnTo>
                <a:lnTo>
                  <a:pt x="3016310" y="466018"/>
                </a:lnTo>
                <a:lnTo>
                  <a:pt x="3100174" y="474613"/>
                </a:lnTo>
                <a:lnTo>
                  <a:pt x="3184907" y="482984"/>
                </a:lnTo>
                <a:lnTo>
                  <a:pt x="3270126" y="491133"/>
                </a:lnTo>
                <a:lnTo>
                  <a:pt x="3355448" y="499058"/>
                </a:lnTo>
                <a:lnTo>
                  <a:pt x="3440488" y="506760"/>
                </a:lnTo>
                <a:lnTo>
                  <a:pt x="3524863" y="514238"/>
                </a:lnTo>
                <a:lnTo>
                  <a:pt x="3608189" y="521494"/>
                </a:lnTo>
                <a:lnTo>
                  <a:pt x="3690083" y="528526"/>
                </a:lnTo>
                <a:lnTo>
                  <a:pt x="3770161" y="535335"/>
                </a:lnTo>
                <a:lnTo>
                  <a:pt x="3848038" y="541920"/>
                </a:lnTo>
                <a:lnTo>
                  <a:pt x="3923333" y="548283"/>
                </a:lnTo>
                <a:lnTo>
                  <a:pt x="3995660" y="554422"/>
                </a:lnTo>
                <a:lnTo>
                  <a:pt x="4064636" y="560338"/>
                </a:lnTo>
                <a:lnTo>
                  <a:pt x="4129877" y="566031"/>
                </a:lnTo>
                <a:lnTo>
                  <a:pt x="4191000" y="571500"/>
                </a:lnTo>
              </a:path>
            </a:pathLst>
          </a:custGeom>
          <a:noFill/>
          <a:ln w="25400" cap="rnd">
            <a:solidFill>
              <a:srgbClr val="2A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676400" y="4287520"/>
            <a:ext cx="4191000" cy="800100"/>
          </a:xfrm>
          <a:custGeom>
            <a:avLst/>
            <a:gdLst/>
            <a:ahLst/>
            <a:cxnLst/>
            <a:rect l="l" t="t" r="r" b="b"/>
            <a:pathLst>
              <a:path w="4191000" h="800100">
                <a:moveTo>
                  <a:pt x="0" y="800100"/>
                </a:moveTo>
                <a:lnTo>
                  <a:pt x="61315" y="779908"/>
                </a:lnTo>
                <a:lnTo>
                  <a:pt x="127081" y="758041"/>
                </a:lnTo>
                <a:lnTo>
                  <a:pt x="196837" y="734701"/>
                </a:lnTo>
                <a:lnTo>
                  <a:pt x="270123" y="710089"/>
                </a:lnTo>
                <a:lnTo>
                  <a:pt x="346479" y="684405"/>
                </a:lnTo>
                <a:lnTo>
                  <a:pt x="425444" y="657850"/>
                </a:lnTo>
                <a:lnTo>
                  <a:pt x="506557" y="630626"/>
                </a:lnTo>
                <a:lnTo>
                  <a:pt x="589359" y="602932"/>
                </a:lnTo>
                <a:lnTo>
                  <a:pt x="673389" y="574971"/>
                </a:lnTo>
                <a:lnTo>
                  <a:pt x="758186" y="546943"/>
                </a:lnTo>
                <a:lnTo>
                  <a:pt x="843290" y="519049"/>
                </a:lnTo>
                <a:lnTo>
                  <a:pt x="928241" y="491490"/>
                </a:lnTo>
                <a:lnTo>
                  <a:pt x="1012578" y="464467"/>
                </a:lnTo>
                <a:lnTo>
                  <a:pt x="1095840" y="438180"/>
                </a:lnTo>
                <a:lnTo>
                  <a:pt x="1177568" y="412831"/>
                </a:lnTo>
                <a:lnTo>
                  <a:pt x="1257300" y="388620"/>
                </a:lnTo>
                <a:lnTo>
                  <a:pt x="1336073" y="369424"/>
                </a:lnTo>
                <a:lnTo>
                  <a:pt x="1415179" y="350423"/>
                </a:lnTo>
                <a:lnTo>
                  <a:pt x="1494540" y="331635"/>
                </a:lnTo>
                <a:lnTo>
                  <a:pt x="1574081" y="313075"/>
                </a:lnTo>
                <a:lnTo>
                  <a:pt x="1653723" y="294761"/>
                </a:lnTo>
                <a:lnTo>
                  <a:pt x="1733392" y="276709"/>
                </a:lnTo>
                <a:lnTo>
                  <a:pt x="1813009" y="258936"/>
                </a:lnTo>
                <a:lnTo>
                  <a:pt x="1892498" y="241459"/>
                </a:lnTo>
                <a:lnTo>
                  <a:pt x="1971783" y="224294"/>
                </a:lnTo>
                <a:lnTo>
                  <a:pt x="2050786" y="207459"/>
                </a:lnTo>
                <a:lnTo>
                  <a:pt x="2129432" y="190970"/>
                </a:lnTo>
                <a:lnTo>
                  <a:pt x="2207642" y="174843"/>
                </a:lnTo>
                <a:lnTo>
                  <a:pt x="2285341" y="159096"/>
                </a:lnTo>
                <a:lnTo>
                  <a:pt x="2362451" y="143746"/>
                </a:lnTo>
                <a:lnTo>
                  <a:pt x="2438896" y="128808"/>
                </a:lnTo>
                <a:lnTo>
                  <a:pt x="2514600" y="114300"/>
                </a:lnTo>
                <a:lnTo>
                  <a:pt x="2583346" y="106011"/>
                </a:lnTo>
                <a:lnTo>
                  <a:pt x="2652015" y="98260"/>
                </a:lnTo>
                <a:lnTo>
                  <a:pt x="2720530" y="91006"/>
                </a:lnTo>
                <a:lnTo>
                  <a:pt x="2788816" y="84207"/>
                </a:lnTo>
                <a:lnTo>
                  <a:pt x="2856794" y="77821"/>
                </a:lnTo>
                <a:lnTo>
                  <a:pt x="2924389" y="71806"/>
                </a:lnTo>
                <a:lnTo>
                  <a:pt x="2991523" y="66120"/>
                </a:lnTo>
                <a:lnTo>
                  <a:pt x="3058120" y="60722"/>
                </a:lnTo>
                <a:lnTo>
                  <a:pt x="3124103" y="55569"/>
                </a:lnTo>
                <a:lnTo>
                  <a:pt x="3189396" y="50620"/>
                </a:lnTo>
                <a:lnTo>
                  <a:pt x="3253921" y="45833"/>
                </a:lnTo>
                <a:lnTo>
                  <a:pt x="3317602" y="41166"/>
                </a:lnTo>
                <a:lnTo>
                  <a:pt x="3380362" y="36577"/>
                </a:lnTo>
                <a:lnTo>
                  <a:pt x="3442125" y="32024"/>
                </a:lnTo>
                <a:lnTo>
                  <a:pt x="3502813" y="27466"/>
                </a:lnTo>
                <a:lnTo>
                  <a:pt x="3562350" y="22860"/>
                </a:lnTo>
                <a:lnTo>
                  <a:pt x="3607972" y="20469"/>
                </a:lnTo>
                <a:lnTo>
                  <a:pt x="3653107" y="18284"/>
                </a:lnTo>
                <a:lnTo>
                  <a:pt x="3697680" y="16288"/>
                </a:lnTo>
                <a:lnTo>
                  <a:pt x="3741613" y="14466"/>
                </a:lnTo>
                <a:lnTo>
                  <a:pt x="3784831" y="12800"/>
                </a:lnTo>
                <a:lnTo>
                  <a:pt x="3827255" y="11274"/>
                </a:lnTo>
                <a:lnTo>
                  <a:pt x="3868809" y="9870"/>
                </a:lnTo>
                <a:lnTo>
                  <a:pt x="3909417" y="8572"/>
                </a:lnTo>
                <a:lnTo>
                  <a:pt x="3949002" y="7364"/>
                </a:lnTo>
                <a:lnTo>
                  <a:pt x="3987487" y="6228"/>
                </a:lnTo>
                <a:lnTo>
                  <a:pt x="4024795" y="5149"/>
                </a:lnTo>
                <a:lnTo>
                  <a:pt x="4060850" y="4108"/>
                </a:lnTo>
                <a:lnTo>
                  <a:pt x="4095574" y="3089"/>
                </a:lnTo>
                <a:lnTo>
                  <a:pt x="4128892" y="2076"/>
                </a:lnTo>
                <a:lnTo>
                  <a:pt x="4160726" y="1052"/>
                </a:lnTo>
                <a:lnTo>
                  <a:pt x="4191000" y="0"/>
                </a:lnTo>
              </a:path>
            </a:pathLst>
          </a:custGeom>
          <a:noFill/>
          <a:ln w="25400" cap="rnd">
            <a:solidFill>
              <a:srgbClr val="0F3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8400" y="5638800"/>
            <a:ext cx="50292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2B1"/>
                </a:solidFill>
                <a:latin typeface="Arial"/>
                <a:ea typeface="Microsoft YaHei"/>
                <a:cs typeface="Arial"/>
              </a:rPr>
              <a:t>示意图：预期“生长-降氮”动力学趋势（非实测数据）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86600" y="1371600"/>
            <a:ext cx="4495800" cy="4775200"/>
          </a:xfrm>
          <a:prstGeom prst="roundRect">
            <a:avLst>
              <a:gd name="adj" fmla="val 3954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  <a:effectLst>
            <a:outerShdw blurRad="63500" dist="25400" dir="5400000" rotWithShape="0">
              <a:srgbClr val="0A1E34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40600" y="1574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近期下一步工作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40600" y="1879600"/>
            <a:ext cx="431800" cy="38100"/>
          </a:xfrm>
          <a:prstGeom prst="rect">
            <a:avLst/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340600" y="2184400"/>
            <a:ext cx="3987800" cy="1117600"/>
          </a:xfrm>
          <a:prstGeom prst="roundRect">
            <a:avLst>
              <a:gd name="adj" fmla="val 11363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40600" y="2184400"/>
            <a:ext cx="50800" cy="1117600"/>
          </a:xfrm>
          <a:prstGeom prst="roundRect">
            <a:avLst>
              <a:gd name="adj" fmla="val 50000"/>
            </a:avLst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505700" y="2324100"/>
            <a:ext cx="381000" cy="381000"/>
          </a:xfrm>
          <a:prstGeom prst="ellipse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05700" y="23241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75600" y="23114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F3D6E"/>
                </a:solidFill>
                <a:latin typeface="Arial"/>
                <a:ea typeface="Microsoft YaHei"/>
                <a:cs typeface="Arial"/>
              </a:rPr>
              <a:t>STEP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75600" y="25146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16S rRNA 种属鉴定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0000" y="28448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对选定的王牌菌株进行 16S rRNA 种属鉴定。</a:t>
            </a:r>
          </a:p>
        </p:txBody>
      </p:sp>
      <p:sp>
        <p:nvSpPr>
          <p:cNvPr id="54" name="Oval 53"/>
          <p:cNvSpPr/>
          <p:nvPr/>
        </p:nvSpPr>
        <p:spPr>
          <a:xfrm>
            <a:off x="10859516" y="2426716"/>
            <a:ext cx="277368" cy="277368"/>
          </a:xfrm>
          <a:prstGeom prst="ellipse">
            <a:avLst/>
          </a:prstGeom>
          <a:noFill/>
          <a:ln w="20320">
            <a:solidFill>
              <a:srgbClr val="0F3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18952" y="2486152"/>
            <a:ext cx="158496" cy="158496"/>
          </a:xfrm>
          <a:prstGeom prst="ellipse">
            <a:avLst/>
          </a:prstGeom>
          <a:noFill/>
          <a:ln w="17780">
            <a:solidFill>
              <a:srgbClr val="0F3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975086" y="2542286"/>
            <a:ext cx="46228" cy="46228"/>
          </a:xfrm>
          <a:prstGeom prst="ellipse">
            <a:avLst/>
          </a:prstGeom>
          <a:solidFill>
            <a:srgbClr val="0F3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7543800" y="3352800"/>
            <a:ext cx="0" cy="70612"/>
          </a:xfrm>
          <a:custGeom>
            <a:avLst/>
            <a:gdLst/>
            <a:ahLst/>
            <a:cxnLst/>
            <a:rect l="l" t="t" r="r" b="b"/>
            <a:pathLst>
              <a:path w="0" h="70612">
                <a:moveTo>
                  <a:pt x="0" y="0"/>
                </a:moveTo>
                <a:lnTo>
                  <a:pt x="0" y="70612"/>
                </a:lnTo>
              </a:path>
            </a:pathLst>
          </a:custGeom>
          <a:noFill/>
          <a:ln w="17780" cap="rnd">
            <a:solidFill>
              <a:srgbClr val="94A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7502906" y="3423412"/>
            <a:ext cx="81788" cy="81788"/>
          </a:xfrm>
          <a:custGeom>
            <a:avLst/>
            <a:gdLst/>
            <a:ahLst/>
            <a:cxnLst/>
            <a:rect l="l" t="t" r="r" b="b"/>
            <a:pathLst>
              <a:path w="81788" h="81788">
                <a:moveTo>
                  <a:pt x="40894" y="81788"/>
                </a:moveTo>
                <a:lnTo>
                  <a:pt x="0" y="0"/>
                </a:lnTo>
                <a:lnTo>
                  <a:pt x="81788" y="0"/>
                </a:lnTo>
                <a:close/>
              </a:path>
            </a:pathLst>
          </a:custGeom>
          <a:solidFill>
            <a:srgbClr val="94A2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340600" y="3505200"/>
            <a:ext cx="3987800" cy="1117600"/>
          </a:xfrm>
          <a:prstGeom prst="roundRect">
            <a:avLst>
              <a:gd name="adj" fmla="val 11363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340600" y="3505200"/>
            <a:ext cx="50800" cy="1117600"/>
          </a:xfrm>
          <a:prstGeom prst="roundRect">
            <a:avLst>
              <a:gd name="adj" fmla="val 50000"/>
            </a:avLst>
          </a:prstGeom>
          <a:solidFill>
            <a:srgbClr val="0B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505700" y="3644900"/>
            <a:ext cx="381000" cy="381000"/>
          </a:xfrm>
          <a:prstGeom prst="ellipse">
            <a:avLst/>
          </a:prstGeom>
          <a:solidFill>
            <a:srgbClr val="0B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05700" y="3644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75600" y="36322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B7A6B"/>
                </a:solidFill>
                <a:latin typeface="Arial"/>
                <a:ea typeface="Microsoft YaHei"/>
                <a:cs typeface="Arial"/>
              </a:rPr>
              <a:t>STEP 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75600" y="38354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全基因组测序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20000" y="41656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提取 DNA 送检全基因组测序。</a:t>
            </a:r>
          </a:p>
        </p:txBody>
      </p:sp>
      <p:sp>
        <p:nvSpPr>
          <p:cNvPr id="66" name="Freeform 65"/>
          <p:cNvSpPr/>
          <p:nvPr/>
        </p:nvSpPr>
        <p:spPr>
          <a:xfrm>
            <a:off x="10912348" y="3727704"/>
            <a:ext cx="171704" cy="316992"/>
          </a:xfrm>
          <a:custGeom>
            <a:avLst/>
            <a:gdLst/>
            <a:ahLst/>
            <a:cxnLst/>
            <a:rect l="l" t="t" r="r" b="b"/>
            <a:pathLst>
              <a:path w="171704" h="316992">
                <a:moveTo>
                  <a:pt x="85852" y="0"/>
                </a:moveTo>
                <a:lnTo>
                  <a:pt x="108072" y="13208"/>
                </a:lnTo>
                <a:lnTo>
                  <a:pt x="128778" y="26416"/>
                </a:lnTo>
                <a:lnTo>
                  <a:pt x="146559" y="39624"/>
                </a:lnTo>
                <a:lnTo>
                  <a:pt x="160202" y="52832"/>
                </a:lnTo>
                <a:lnTo>
                  <a:pt x="168779" y="66040"/>
                </a:lnTo>
                <a:lnTo>
                  <a:pt x="171704" y="79248"/>
                </a:lnTo>
                <a:lnTo>
                  <a:pt x="168779" y="92456"/>
                </a:lnTo>
                <a:lnTo>
                  <a:pt x="160202" y="105664"/>
                </a:lnTo>
                <a:lnTo>
                  <a:pt x="146559" y="118872"/>
                </a:lnTo>
                <a:lnTo>
                  <a:pt x="128778" y="132080"/>
                </a:lnTo>
                <a:lnTo>
                  <a:pt x="108072" y="145288"/>
                </a:lnTo>
                <a:lnTo>
                  <a:pt x="85852" y="158496"/>
                </a:lnTo>
                <a:lnTo>
                  <a:pt x="63632" y="171704"/>
                </a:lnTo>
                <a:lnTo>
                  <a:pt x="42926" y="184912"/>
                </a:lnTo>
                <a:lnTo>
                  <a:pt x="25145" y="198120"/>
                </a:lnTo>
                <a:lnTo>
                  <a:pt x="11502" y="211328"/>
                </a:lnTo>
                <a:lnTo>
                  <a:pt x="2925" y="224536"/>
                </a:lnTo>
                <a:lnTo>
                  <a:pt x="0" y="237744"/>
                </a:lnTo>
                <a:lnTo>
                  <a:pt x="2925" y="250952"/>
                </a:lnTo>
                <a:lnTo>
                  <a:pt x="11502" y="264160"/>
                </a:lnTo>
                <a:lnTo>
                  <a:pt x="25145" y="277368"/>
                </a:lnTo>
                <a:lnTo>
                  <a:pt x="42926" y="290576"/>
                </a:lnTo>
                <a:lnTo>
                  <a:pt x="63632" y="303784"/>
                </a:lnTo>
                <a:lnTo>
                  <a:pt x="85852" y="316992"/>
                </a:lnTo>
              </a:path>
            </a:pathLst>
          </a:custGeom>
          <a:noFill/>
          <a:ln w="19050" cap="rnd">
            <a:solidFill>
              <a:srgbClr val="0B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0912348" y="3727704"/>
            <a:ext cx="171704" cy="316992"/>
          </a:xfrm>
          <a:custGeom>
            <a:avLst/>
            <a:gdLst/>
            <a:ahLst/>
            <a:cxnLst/>
            <a:rect l="l" t="t" r="r" b="b"/>
            <a:pathLst>
              <a:path w="171704" h="316992">
                <a:moveTo>
                  <a:pt x="85852" y="0"/>
                </a:moveTo>
                <a:lnTo>
                  <a:pt x="63632" y="13208"/>
                </a:lnTo>
                <a:lnTo>
                  <a:pt x="42926" y="26416"/>
                </a:lnTo>
                <a:lnTo>
                  <a:pt x="25145" y="39624"/>
                </a:lnTo>
                <a:lnTo>
                  <a:pt x="11502" y="52832"/>
                </a:lnTo>
                <a:lnTo>
                  <a:pt x="2925" y="66040"/>
                </a:lnTo>
                <a:lnTo>
                  <a:pt x="0" y="79248"/>
                </a:lnTo>
                <a:lnTo>
                  <a:pt x="2925" y="92456"/>
                </a:lnTo>
                <a:lnTo>
                  <a:pt x="11502" y="105664"/>
                </a:lnTo>
                <a:lnTo>
                  <a:pt x="25145" y="118872"/>
                </a:lnTo>
                <a:lnTo>
                  <a:pt x="42926" y="132080"/>
                </a:lnTo>
                <a:lnTo>
                  <a:pt x="63632" y="145288"/>
                </a:lnTo>
                <a:lnTo>
                  <a:pt x="85852" y="158496"/>
                </a:lnTo>
                <a:lnTo>
                  <a:pt x="108072" y="171704"/>
                </a:lnTo>
                <a:lnTo>
                  <a:pt x="128778" y="184912"/>
                </a:lnTo>
                <a:lnTo>
                  <a:pt x="146559" y="198120"/>
                </a:lnTo>
                <a:lnTo>
                  <a:pt x="160202" y="211328"/>
                </a:lnTo>
                <a:lnTo>
                  <a:pt x="168779" y="224536"/>
                </a:lnTo>
                <a:lnTo>
                  <a:pt x="171704" y="237744"/>
                </a:lnTo>
                <a:lnTo>
                  <a:pt x="168779" y="250952"/>
                </a:lnTo>
                <a:lnTo>
                  <a:pt x="160202" y="264160"/>
                </a:lnTo>
                <a:lnTo>
                  <a:pt x="146559" y="277368"/>
                </a:lnTo>
                <a:lnTo>
                  <a:pt x="128778" y="290576"/>
                </a:lnTo>
                <a:lnTo>
                  <a:pt x="108072" y="303784"/>
                </a:lnTo>
                <a:lnTo>
                  <a:pt x="85852" y="316992"/>
                </a:lnTo>
              </a:path>
            </a:pathLst>
          </a:custGeom>
          <a:noFill/>
          <a:ln w="19050" cap="rnd">
            <a:solidFill>
              <a:srgbClr val="0B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0915273" y="3793744"/>
            <a:ext cx="165854" cy="0"/>
          </a:xfrm>
          <a:custGeom>
            <a:avLst/>
            <a:gdLst/>
            <a:ahLst/>
            <a:cxnLst/>
            <a:rect l="l" t="t" r="r" b="b"/>
            <a:pathLst>
              <a:path w="165854" h="0">
                <a:moveTo>
                  <a:pt x="165854" y="0"/>
                </a:moveTo>
                <a:lnTo>
                  <a:pt x="0" y="0"/>
                </a:lnTo>
              </a:path>
            </a:pathLst>
          </a:custGeom>
          <a:noFill/>
          <a:ln w="15240" cap="flat">
            <a:solidFill>
              <a:srgbClr val="0B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0998200" y="3886200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5240" cap="flat">
            <a:solidFill>
              <a:srgbClr val="0B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0915273" y="3978656"/>
            <a:ext cx="165854" cy="0"/>
          </a:xfrm>
          <a:custGeom>
            <a:avLst/>
            <a:gdLst/>
            <a:ahLst/>
            <a:cxnLst/>
            <a:rect l="l" t="t" r="r" b="b"/>
            <a:pathLst>
              <a:path w="165854" h="0">
                <a:moveTo>
                  <a:pt x="0" y="0"/>
                </a:moveTo>
                <a:lnTo>
                  <a:pt x="165854" y="0"/>
                </a:lnTo>
              </a:path>
            </a:pathLst>
          </a:custGeom>
          <a:noFill/>
          <a:ln w="15240" cap="flat">
            <a:solidFill>
              <a:srgbClr val="0B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7543800" y="4673600"/>
            <a:ext cx="0" cy="70612"/>
          </a:xfrm>
          <a:custGeom>
            <a:avLst/>
            <a:gdLst/>
            <a:ahLst/>
            <a:cxnLst/>
            <a:rect l="l" t="t" r="r" b="b"/>
            <a:pathLst>
              <a:path w="0" h="70612">
                <a:moveTo>
                  <a:pt x="0" y="0"/>
                </a:moveTo>
                <a:lnTo>
                  <a:pt x="0" y="70612"/>
                </a:lnTo>
              </a:path>
            </a:pathLst>
          </a:custGeom>
          <a:noFill/>
          <a:ln w="17780" cap="rnd">
            <a:solidFill>
              <a:srgbClr val="94A2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7502906" y="4744212"/>
            <a:ext cx="81788" cy="81788"/>
          </a:xfrm>
          <a:custGeom>
            <a:avLst/>
            <a:gdLst/>
            <a:ahLst/>
            <a:cxnLst/>
            <a:rect l="l" t="t" r="r" b="b"/>
            <a:pathLst>
              <a:path w="81788" h="81788">
                <a:moveTo>
                  <a:pt x="40894" y="81788"/>
                </a:moveTo>
                <a:lnTo>
                  <a:pt x="0" y="0"/>
                </a:lnTo>
                <a:lnTo>
                  <a:pt x="81788" y="0"/>
                </a:lnTo>
                <a:close/>
              </a:path>
            </a:pathLst>
          </a:custGeom>
          <a:solidFill>
            <a:srgbClr val="94A2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340600" y="4826000"/>
            <a:ext cx="3987800" cy="1117600"/>
          </a:xfrm>
          <a:prstGeom prst="roundRect">
            <a:avLst>
              <a:gd name="adj" fmla="val 11363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340600" y="4826000"/>
            <a:ext cx="50800" cy="1117600"/>
          </a:xfrm>
          <a:prstGeom prst="roundRect">
            <a:avLst>
              <a:gd name="adj" fmla="val 50000"/>
            </a:avLst>
          </a:prstGeom>
          <a:solidFill>
            <a:srgbClr val="2E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505700" y="4965700"/>
            <a:ext cx="381000" cy="381000"/>
          </a:xfrm>
          <a:prstGeom prst="ellipse">
            <a:avLst/>
          </a:prstGeom>
          <a:solidFill>
            <a:srgbClr val="2E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05700" y="49657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75600" y="4953000"/>
            <a:ext cx="254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E9A5B"/>
                </a:solidFill>
                <a:latin typeface="Arial"/>
                <a:ea typeface="Microsoft YaHei"/>
                <a:cs typeface="Arial"/>
              </a:rPr>
              <a:t>STEP 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75600" y="51562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38"/>
                </a:solidFill>
                <a:latin typeface="Arial"/>
                <a:ea typeface="Microsoft YaHei"/>
                <a:cs typeface="Arial"/>
              </a:rPr>
              <a:t>酶系验证前期准备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20000" y="54864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5C6B7A"/>
                </a:solidFill>
                <a:latin typeface="Arial"/>
                <a:ea typeface="Microsoft YaHei"/>
                <a:cs typeface="Arial"/>
              </a:rPr>
              <a:t>为后续的氨氧化酶系（AMO）和反硝化酶系（NIR/NAR）验证做前期准备。</a:t>
            </a:r>
          </a:p>
        </p:txBody>
      </p:sp>
      <p:sp>
        <p:nvSpPr>
          <p:cNvPr id="80" name="Freeform 79"/>
          <p:cNvSpPr/>
          <p:nvPr/>
        </p:nvSpPr>
        <p:spPr>
          <a:xfrm>
            <a:off x="10879328" y="5055108"/>
            <a:ext cx="237744" cy="283972"/>
          </a:xfrm>
          <a:custGeom>
            <a:avLst/>
            <a:gdLst/>
            <a:ahLst/>
            <a:cxnLst/>
            <a:rect l="l" t="t" r="r" b="b"/>
            <a:pathLst>
              <a:path w="237744" h="283972">
                <a:moveTo>
                  <a:pt x="85852" y="0"/>
                </a:moveTo>
                <a:lnTo>
                  <a:pt x="85852" y="132080"/>
                </a:lnTo>
                <a:lnTo>
                  <a:pt x="0" y="283972"/>
                </a:lnTo>
                <a:lnTo>
                  <a:pt x="237744" y="283972"/>
                </a:lnTo>
                <a:lnTo>
                  <a:pt x="151892" y="132080"/>
                </a:lnTo>
                <a:lnTo>
                  <a:pt x="151892" y="0"/>
                </a:lnTo>
              </a:path>
            </a:pathLst>
          </a:custGeom>
          <a:noFill/>
          <a:ln w="20320" cap="rnd">
            <a:solidFill>
              <a:srgbClr val="2E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0945368" y="5055108"/>
            <a:ext cx="105664" cy="0"/>
          </a:xfrm>
          <a:custGeom>
            <a:avLst/>
            <a:gdLst/>
            <a:ahLst/>
            <a:cxnLst/>
            <a:rect l="l" t="t" r="r" b="b"/>
            <a:pathLst>
              <a:path w="105664" h="0">
                <a:moveTo>
                  <a:pt x="0" y="0"/>
                </a:moveTo>
                <a:lnTo>
                  <a:pt x="105664" y="0"/>
                </a:lnTo>
              </a:path>
            </a:pathLst>
          </a:custGeom>
          <a:noFill/>
          <a:ln w="20320" cap="rnd">
            <a:solidFill>
              <a:srgbClr val="2E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0925556" y="5259832"/>
            <a:ext cx="145288" cy="0"/>
          </a:xfrm>
          <a:custGeom>
            <a:avLst/>
            <a:gdLst/>
            <a:ahLst/>
            <a:cxnLst/>
            <a:rect l="l" t="t" r="r" b="b"/>
            <a:pathLst>
              <a:path w="145288" h="0">
                <a:moveTo>
                  <a:pt x="0" y="0"/>
                </a:moveTo>
                <a:lnTo>
                  <a:pt x="145288" y="0"/>
                </a:lnTo>
              </a:path>
            </a:pathLst>
          </a:custGeom>
          <a:noFill/>
          <a:ln w="17780" cap="rnd">
            <a:solidFill>
              <a:srgbClr val="2E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78388" y="5279644"/>
            <a:ext cx="29718" cy="29718"/>
          </a:xfrm>
          <a:prstGeom prst="ellipse">
            <a:avLst/>
          </a:prstGeom>
          <a:solidFill>
            <a:srgbClr val="2E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2A4D">
                  <a:alpha val="100000"/>
                </a:srgbClr>
              </a:gs>
              <a:gs pos="100000">
                <a:srgbClr val="#10497E">
                  <a:alpha val="100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413000" y="3048000"/>
            <a:ext cx="6096000" cy="6096000"/>
          </a:xfrm>
          <a:prstGeom prst="ellipse">
            <a:avLst/>
          </a:prstGeom>
          <a:noFill/>
          <a:ln w="1270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74800" y="3886200"/>
            <a:ext cx="4419600" cy="4419600"/>
          </a:xfrm>
          <a:prstGeom prst="ellipse">
            <a:avLst/>
          </a:prstGeom>
          <a:noFill/>
          <a:ln w="15240">
            <a:solidFill>
              <a:srgbClr val="12A08C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52000" y="-2032000"/>
            <a:ext cx="5334000" cy="5334000"/>
          </a:xfrm>
          <a:prstGeom prst="ellipse">
            <a:avLst/>
          </a:prstGeom>
          <a:noFill/>
          <a:ln w="11430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gradFill rotWithShape="1">
            <a:gsLst>
              <a:gs pos="0">
                <a:srgbClr val="12A08C">
                  <a:alpha val="100000"/>
                </a:srgbClr>
              </a:gs>
              <a:gs pos="100000">
                <a:srgbClr val="0B7A6B">
                  <a:alpha val="100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4000" y="2235200"/>
            <a:ext cx="9144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3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感谢各位老师和同学的聆听！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30988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9FD8CE"/>
                </a:solidFill>
                <a:latin typeface="Arial"/>
                <a:ea typeface="Microsoft YaHei"/>
                <a:cs typeface="Arial"/>
              </a:rPr>
              <a:t>敬请批评指正。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537200" y="3759200"/>
            <a:ext cx="1117600" cy="50800"/>
          </a:xfrm>
          <a:prstGeom prst="rect">
            <a:avLst/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24000" y="4191000"/>
            <a:ext cx="914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B9CBDD"/>
                </a:solidFill>
                <a:latin typeface="Arial"/>
                <a:ea typeface="Microsoft YaHei"/>
                <a:cs typeface="Arial"/>
              </a:rPr>
              <a:t>高效好氧降氨菌的筛选、机制解析及其在堆肥减排保氮中的应用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45212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8FA6BD"/>
                </a:solidFill>
                <a:latin typeface="Arial"/>
                <a:ea typeface="Microsoft YaHei"/>
                <a:cs typeface="Arial"/>
              </a:rPr>
              <a:t>汇报人：[你的名字]　|　指导教师：[导师名字]　|　202X年X月X日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1600" y="5334000"/>
            <a:ext cx="1468088" cy="311150"/>
          </a:xfrm>
          <a:prstGeom prst="roundRect">
            <a:avLst>
              <a:gd name="adj" fmla="val 50000"/>
            </a:avLst>
          </a:prstGeom>
          <a:solidFill>
            <a:srgbClr val="12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600" y="5334000"/>
            <a:ext cx="1468088" cy="311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HN-AD · 好氧降氨菌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高效好氧降氨菌的筛选、机制解析及其在堆肥减排保氮中的应用</dc:title>
  <dc:subject>研究生组会汇报</dc:subject>
  <dc:creator>[你的名字]</dc:creator>
  <cp:keywords/>
  <dc:description>本 PPT 由 deckkit 版式引擎生成，全部形状与文本均可编辑。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